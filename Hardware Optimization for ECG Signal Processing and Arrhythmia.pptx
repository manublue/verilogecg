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4" r:id="rId8"/>
    <p:sldId id="263" r:id="rId9"/>
    <p:sldId id="264" r:id="rId10"/>
    <p:sldId id="273" r:id="rId11"/>
    <p:sldId id="265" r:id="rId12"/>
    <p:sldId id="276" r:id="rId13"/>
    <p:sldId id="278" r:id="rId14"/>
    <p:sldId id="277" r:id="rId15"/>
    <p:sldId id="279" r:id="rId16"/>
    <p:sldId id="282" r:id="rId17"/>
    <p:sldId id="280" r:id="rId18"/>
    <p:sldId id="281" r:id="rId19"/>
    <p:sldId id="283" r:id="rId20"/>
    <p:sldId id="284" r:id="rId21"/>
    <p:sldId id="285" r:id="rId22"/>
    <p:sldId id="287" r:id="rId23"/>
    <p:sldId id="288" r:id="rId24"/>
    <p:sldId id="289" r:id="rId25"/>
    <p:sldId id="29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sank Nasika" initials="SN" lastIdx="1" clrIdx="0">
    <p:extLst>
      <p:ext uri="{19B8F6BF-5375-455C-9EA6-DF929625EA0E}">
        <p15:presenceInfo xmlns:p15="http://schemas.microsoft.com/office/powerpoint/2012/main" userId="8bc0c18b21691b5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4" autoAdjust="0"/>
    <p:restoredTop sz="94660"/>
  </p:normalViewPr>
  <p:slideViewPr>
    <p:cSldViewPr snapToGrid="0">
      <p:cViewPr varScale="1">
        <p:scale>
          <a:sx n="81" d="100"/>
          <a:sy n="81" d="100"/>
        </p:scale>
        <p:origin x="43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23T21:06:32.314" idx="1">
    <p:pos x="7680" y="97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DE607-9DC3-3E8A-8027-AD157A7685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8B4F4A8-E362-E6DA-BE3D-7F3B4DEB7B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0EE5AB-B02C-F557-898B-AD366806E71D}"/>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5" name="Footer Placeholder 4">
            <a:extLst>
              <a:ext uri="{FF2B5EF4-FFF2-40B4-BE49-F238E27FC236}">
                <a16:creationId xmlns:a16="http://schemas.microsoft.com/office/drawing/2014/main" id="{ED5DC3A2-FDA3-B93E-BD8A-27D8BA640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C2FCF4-92F6-1136-861D-2357FDC23A8C}"/>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129217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E4AEA-FC4A-1616-CC8B-1E688D14E8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C3ADCA-B56B-136F-3909-C9D6FFA0D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2EAF6-DC37-8DF9-9934-2F30CDD3CFF7}"/>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5" name="Footer Placeholder 4">
            <a:extLst>
              <a:ext uri="{FF2B5EF4-FFF2-40B4-BE49-F238E27FC236}">
                <a16:creationId xmlns:a16="http://schemas.microsoft.com/office/drawing/2014/main" id="{FB449C7D-5CC1-91D9-137A-F1FE33E238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7065D1-9E09-2BCD-60C9-B9FB0FB3401E}"/>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3436959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FECD3-2624-FD91-4B27-ADF8E97A44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D4820D-C5A2-6AD6-B953-D75B6E1DCF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FC8533-D986-D684-FE91-1EA2F32DF61D}"/>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5" name="Footer Placeholder 4">
            <a:extLst>
              <a:ext uri="{FF2B5EF4-FFF2-40B4-BE49-F238E27FC236}">
                <a16:creationId xmlns:a16="http://schemas.microsoft.com/office/drawing/2014/main" id="{310B8852-0772-FFDE-2B68-A7C0BF53C7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155458-455E-763D-2EDD-95C3C5ABB4E5}"/>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771701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771A1-1070-70FA-0738-55923740B6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77EBC3-87B3-9A19-F044-C0D6837887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F32D1E-B7B0-C1FD-F87E-C6B3290F55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EDC2D2-6287-EAA8-79BD-5863E679E011}"/>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6" name="Footer Placeholder 5">
            <a:extLst>
              <a:ext uri="{FF2B5EF4-FFF2-40B4-BE49-F238E27FC236}">
                <a16:creationId xmlns:a16="http://schemas.microsoft.com/office/drawing/2014/main" id="{D1AD2DEF-FADE-957F-C2BA-9FE88F19B9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2D9779-77E1-FAE3-C6F7-5D6FDDC1FAE9}"/>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1087150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92D58-AB35-F177-318F-F00C13EABDE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B53AF8-2E0C-86C0-C654-8E80886DC4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B50E00-3FB9-D967-20C5-D20AB6ED9A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CD49B8-B515-EDFF-AD57-C7435B9018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238B89-F000-1B59-1773-0615542E1B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F0FF4A-AFC8-3AE6-75FD-246B6AACD8D7}"/>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8" name="Footer Placeholder 7">
            <a:extLst>
              <a:ext uri="{FF2B5EF4-FFF2-40B4-BE49-F238E27FC236}">
                <a16:creationId xmlns:a16="http://schemas.microsoft.com/office/drawing/2014/main" id="{17C9B964-832B-DAF9-7D78-C5F253DB2B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CA40DB5-F6E5-04C3-FC3C-B45FDA02AA44}"/>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3775159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65D11-DD35-AED2-622A-4E994836E8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066F863-13AE-2068-90CF-CD885608BC1F}"/>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4" name="Footer Placeholder 3">
            <a:extLst>
              <a:ext uri="{FF2B5EF4-FFF2-40B4-BE49-F238E27FC236}">
                <a16:creationId xmlns:a16="http://schemas.microsoft.com/office/drawing/2014/main" id="{E9F93E37-120C-F997-63D2-48EFEE2E3C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FDB20E-3CAB-2506-E952-DEEF2DCBEF9B}"/>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2245925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D3F09A-101B-A04E-A1DF-1AE043D33124}"/>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3" name="Footer Placeholder 2">
            <a:extLst>
              <a:ext uri="{FF2B5EF4-FFF2-40B4-BE49-F238E27FC236}">
                <a16:creationId xmlns:a16="http://schemas.microsoft.com/office/drawing/2014/main" id="{B676DAF9-547A-52C9-D034-E78957A2B9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B5D33D-DD52-5859-F652-BC0064E16F50}"/>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161072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46709-5A7F-4157-0CE3-F8E97F959F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7B3468-09A8-EE1E-245A-EDD44AA1B9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FD79A1-1F57-964F-5C2E-03BAFAAF3D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1BC549-556D-6710-8C47-98B14C1338F7}"/>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6" name="Footer Placeholder 5">
            <a:extLst>
              <a:ext uri="{FF2B5EF4-FFF2-40B4-BE49-F238E27FC236}">
                <a16:creationId xmlns:a16="http://schemas.microsoft.com/office/drawing/2014/main" id="{1C65E02C-87E4-755D-1C41-A4D010A7CB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CC13F0-E265-80B3-3C10-739BBD909091}"/>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2574715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676B0-AE3D-38F5-F778-26ECFF56E0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6F2A3B-2BDD-D30F-1444-18C082ED35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822FF1-1AEF-876C-F3EF-DFEF611D25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FD8441-A65B-48C8-EA79-9B119CC71FDC}"/>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6" name="Footer Placeholder 5">
            <a:extLst>
              <a:ext uri="{FF2B5EF4-FFF2-40B4-BE49-F238E27FC236}">
                <a16:creationId xmlns:a16="http://schemas.microsoft.com/office/drawing/2014/main" id="{B0D718DD-DEC4-D996-A5DE-01C042CC7A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1E7AD4-2DF1-4F9E-1203-1329D3138F1F}"/>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89737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E415C-DDD4-3D01-4F0F-1DB36DF259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5202D1-12EC-31FF-9BF2-EF6F901364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F0476-472B-BF93-5EE0-48C804CB7F1D}"/>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5" name="Footer Placeholder 4">
            <a:extLst>
              <a:ext uri="{FF2B5EF4-FFF2-40B4-BE49-F238E27FC236}">
                <a16:creationId xmlns:a16="http://schemas.microsoft.com/office/drawing/2014/main" id="{A68DEB1B-C41F-D018-F364-961595C2EE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8BCAE1-1823-FBA3-33AD-EA314C004535}"/>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3581180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7B1507-866A-705F-6106-B3089B32A8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EC17A0-A882-FADB-2B1A-757694D256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55A599-1E91-6458-81DA-22D4B1F3C9A5}"/>
              </a:ext>
            </a:extLst>
          </p:cNvPr>
          <p:cNvSpPr>
            <a:spLocks noGrp="1"/>
          </p:cNvSpPr>
          <p:nvPr>
            <p:ph type="dt" sz="half" idx="10"/>
          </p:nvPr>
        </p:nvSpPr>
        <p:spPr/>
        <p:txBody>
          <a:bodyPr/>
          <a:lstStyle/>
          <a:p>
            <a:fld id="{8EFB45F0-DD63-4E0B-ADF5-D3F4350719C0}" type="datetimeFigureOut">
              <a:rPr lang="en-IN" smtClean="0"/>
              <a:t>23-03-2025</a:t>
            </a:fld>
            <a:endParaRPr lang="en-IN"/>
          </a:p>
        </p:txBody>
      </p:sp>
      <p:sp>
        <p:nvSpPr>
          <p:cNvPr id="5" name="Footer Placeholder 4">
            <a:extLst>
              <a:ext uri="{FF2B5EF4-FFF2-40B4-BE49-F238E27FC236}">
                <a16:creationId xmlns:a16="http://schemas.microsoft.com/office/drawing/2014/main" id="{11F942CE-E3D9-1049-1242-B1643A206A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85DE47-DD52-8A18-B283-CE2CD6A8BA2F}"/>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2768361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4D98FC-37CB-546F-6E66-7C73968061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417C7E-9D5B-2540-05D3-19E8F8CA33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53BDFA-38E4-8A83-6AA6-1119BCAE5F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FB45F0-DD63-4E0B-ADF5-D3F4350719C0}" type="datetimeFigureOut">
              <a:rPr lang="en-IN" smtClean="0"/>
              <a:t>23-03-2025</a:t>
            </a:fld>
            <a:endParaRPr lang="en-IN"/>
          </a:p>
        </p:txBody>
      </p:sp>
      <p:sp>
        <p:nvSpPr>
          <p:cNvPr id="5" name="Footer Placeholder 4">
            <a:extLst>
              <a:ext uri="{FF2B5EF4-FFF2-40B4-BE49-F238E27FC236}">
                <a16:creationId xmlns:a16="http://schemas.microsoft.com/office/drawing/2014/main" id="{9B794F64-90B2-F0C8-7BD4-9A8EB01F30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04EF71-2E7C-42D4-AFBB-D97CA6C2E9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85668-FC4B-4461-A76F-6B925A96D9AF}" type="slidenum">
              <a:rPr lang="en-IN" smtClean="0"/>
              <a:t>‹#›</a:t>
            </a:fld>
            <a:endParaRPr lang="en-IN"/>
          </a:p>
        </p:txBody>
      </p:sp>
    </p:spTree>
    <p:extLst>
      <p:ext uri="{BB962C8B-B14F-4D97-AF65-F5344CB8AC3E}">
        <p14:creationId xmlns:p14="http://schemas.microsoft.com/office/powerpoint/2010/main" val="2050085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Electrocardiography" TargetMode="External"/><Relationship Id="rId2" Type="http://schemas.openxmlformats.org/officeDocument/2006/relationships/hyperlink" Target="https://en.wikipedia.org/wiki/File:SinusRhythmLabels.svg" TargetMode="External"/><Relationship Id="rId1" Type="http://schemas.openxmlformats.org/officeDocument/2006/relationships/slideLayout" Target="../slideLayouts/slideLayout2.xml"/><Relationship Id="rId4" Type="http://schemas.openxmlformats.org/officeDocument/2006/relationships/hyperlink" Target="https://encrypted-tbn0.gstatic.com/images?q=tbn:ANd9GcQVHf-ujRLqgrITIcRYYynyiaSZGqHiF8S7Gg&am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10A63-57D5-525A-201D-F4BFC716A3F3}"/>
              </a:ext>
            </a:extLst>
          </p:cNvPr>
          <p:cNvSpPr>
            <a:spLocks noGrp="1"/>
          </p:cNvSpPr>
          <p:nvPr>
            <p:ph type="ctrTitle"/>
          </p:nvPr>
        </p:nvSpPr>
        <p:spPr>
          <a:xfrm>
            <a:off x="1524000" y="1122363"/>
            <a:ext cx="9144000" cy="1778153"/>
          </a:xfrm>
        </p:spPr>
        <p:txBody>
          <a:bodyPr>
            <a:normAutofit/>
          </a:bodyPr>
          <a:lstStyle/>
          <a:p>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Hardware Optimization for ECG Signal Processing and Arrhythmia Classification Using FPGA-Accelerated Machine Learning and Preprocessing </a:t>
            </a:r>
            <a:endParaRPr lang="en-IN" sz="8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CFEAA3B-9B82-0162-D76A-2BD2A7FCAD59}"/>
              </a:ext>
            </a:extLst>
          </p:cNvPr>
          <p:cNvSpPr>
            <a:spLocks noGrp="1"/>
          </p:cNvSpPr>
          <p:nvPr>
            <p:ph type="subTitle" idx="1"/>
          </p:nvPr>
        </p:nvSpPr>
        <p:spPr>
          <a:xfrm>
            <a:off x="1524000" y="4079875"/>
            <a:ext cx="9144000" cy="1298370"/>
          </a:xfrm>
        </p:spPr>
        <p:txBody>
          <a:bodyPr>
            <a:normAutofit/>
          </a:bodyPr>
          <a:lstStyle/>
          <a:p>
            <a:pPr algn="l"/>
            <a:r>
              <a:rPr lang="en-US" sz="1800" b="1" dirty="0">
                <a:latin typeface="Times New Roman" panose="02020603050405020304" pitchFamily="18" charset="0"/>
                <a:cs typeface="Times New Roman" panose="02020603050405020304" pitchFamily="18" charset="0"/>
              </a:rPr>
              <a:t>Base Paper </a:t>
            </a:r>
            <a:r>
              <a:rPr lang="en-US" sz="1800" dirty="0">
                <a:latin typeface="Times New Roman" panose="02020603050405020304" pitchFamily="18" charset="0"/>
                <a:cs typeface="Times New Roman" panose="02020603050405020304" pitchFamily="18" charset="0"/>
              </a:rPr>
              <a:t>: Auto MLP: A Framework for the Acceleration of Multi-Layer Perceptron Models on FPGAs for Real-Time Atrial Fibrillation Disease Detection</a:t>
            </a:r>
          </a:p>
          <a:p>
            <a:pPr algn="l"/>
            <a:r>
              <a:rPr lang="en-US" sz="1800" b="1" dirty="0">
                <a:latin typeface="Times New Roman" panose="02020603050405020304" pitchFamily="18" charset="0"/>
                <a:cs typeface="Times New Roman" panose="02020603050405020304" pitchFamily="18" charset="0"/>
              </a:rPr>
              <a:t>Link</a:t>
            </a:r>
            <a:r>
              <a:rPr lang="en-US" sz="1800" dirty="0">
                <a:latin typeface="Times New Roman" panose="02020603050405020304" pitchFamily="18" charset="0"/>
                <a:cs typeface="Times New Roman" panose="02020603050405020304" pitchFamily="18" charset="0"/>
              </a:rPr>
              <a:t> : https://ieeexplore.ieee.org/document/10195220 </a:t>
            </a:r>
          </a:p>
          <a:p>
            <a:pPr algn="l"/>
            <a:endParaRPr lang="en-IN" sz="1800" dirty="0"/>
          </a:p>
        </p:txBody>
      </p:sp>
      <p:sp>
        <p:nvSpPr>
          <p:cNvPr id="5" name="TextBox 4">
            <a:extLst>
              <a:ext uri="{FF2B5EF4-FFF2-40B4-BE49-F238E27FC236}">
                <a16:creationId xmlns:a16="http://schemas.microsoft.com/office/drawing/2014/main" id="{D7F7E8E5-2846-4DEE-3BB3-B8268BA5FFFF}"/>
              </a:ext>
            </a:extLst>
          </p:cNvPr>
          <p:cNvSpPr txBox="1"/>
          <p:nvPr/>
        </p:nvSpPr>
        <p:spPr>
          <a:xfrm>
            <a:off x="9419304" y="334748"/>
            <a:ext cx="2890684"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Team 1 : 	23ECB0A01</a:t>
            </a:r>
          </a:p>
          <a:p>
            <a:r>
              <a:rPr lang="en-US" dirty="0">
                <a:latin typeface="Times New Roman" panose="02020603050405020304" pitchFamily="18" charset="0"/>
                <a:cs typeface="Times New Roman" panose="02020603050405020304" pitchFamily="18" charset="0"/>
              </a:rPr>
              <a:t>	23ECB0A02</a:t>
            </a:r>
          </a:p>
          <a:p>
            <a:r>
              <a:rPr lang="en-US" dirty="0">
                <a:latin typeface="Times New Roman" panose="02020603050405020304" pitchFamily="18" charset="0"/>
                <a:cs typeface="Times New Roman" panose="02020603050405020304" pitchFamily="18" charset="0"/>
              </a:rPr>
              <a:t>	23ECB0A03</a:t>
            </a:r>
          </a:p>
        </p:txBody>
      </p:sp>
    </p:spTree>
    <p:extLst>
      <p:ext uri="{BB962C8B-B14F-4D97-AF65-F5344CB8AC3E}">
        <p14:creationId xmlns:p14="http://schemas.microsoft.com/office/powerpoint/2010/main" val="200705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0C11E-C407-47D5-8DC3-B490BD529C59}"/>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Index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8DC3E5-F612-0D8D-7F7E-1BC48F563E19}"/>
              </a:ext>
            </a:extLst>
          </p:cNvPr>
          <p:cNvSpPr>
            <a:spLocks noGrp="1"/>
          </p:cNvSpPr>
          <p:nvPr>
            <p:ph idx="1"/>
          </p:nvPr>
        </p:nvSpPr>
        <p:spPr>
          <a:xfrm>
            <a:off x="838200" y="1375595"/>
            <a:ext cx="10515600" cy="4351338"/>
          </a:xfrm>
        </p:spPr>
        <p:txBody>
          <a:bodyPr>
            <a:normAutofit fontScale="92500" lnSpcReduction="20000"/>
          </a:bodyPr>
          <a:lstStyle/>
          <a:p>
            <a:pPr marL="514350" indent="-514350">
              <a:buAutoNum type="arabicPeriod"/>
            </a:pPr>
            <a:r>
              <a:rPr lang="en-US" dirty="0">
                <a:latin typeface="Times New Roman" panose="02020603050405020304" pitchFamily="18" charset="0"/>
                <a:cs typeface="Times New Roman" panose="02020603050405020304" pitchFamily="18" charset="0"/>
              </a:rPr>
              <a:t>Abstract &amp; Introduction</a:t>
            </a:r>
          </a:p>
          <a:p>
            <a:pPr marL="514350" indent="-514350">
              <a:buAutoNum type="arabicPeriod"/>
            </a:pPr>
            <a:r>
              <a:rPr lang="en-US" dirty="0">
                <a:latin typeface="Times New Roman" panose="02020603050405020304" pitchFamily="18" charset="0"/>
                <a:cs typeface="Times New Roman" panose="02020603050405020304" pitchFamily="18" charset="0"/>
              </a:rPr>
              <a:t>Novelty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Motivation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Theory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Implementation &amp; Workflow</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Code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Results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Simulation output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On-board output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7427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9781-50B4-04F1-55A7-C353E9065CF5}"/>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Abstract &amp; Introduction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FDBB76-8A14-D147-2BC4-A43367131A98}"/>
              </a:ext>
            </a:extLst>
          </p:cNvPr>
          <p:cNvSpPr>
            <a:spLocks noGrp="1"/>
          </p:cNvSpPr>
          <p:nvPr>
            <p:ph idx="1"/>
          </p:nvPr>
        </p:nvSpPr>
        <p:spPr>
          <a:xfrm>
            <a:off x="838200" y="1690688"/>
            <a:ext cx="10515600" cy="4351338"/>
          </a:xfrm>
        </p:spPr>
        <p:txBody>
          <a:bodyPr>
            <a:normAutofit fontScale="92500" lnSpcReduction="20000"/>
          </a:bodyPr>
          <a:lstStyle/>
          <a:p>
            <a:pPr marL="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Arrythmia is a common medical condition that is essentially irregularity in the heartbeat.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 India alone, more than 10 million cases of Arrythmia are diagnosed each year. However, this diagnosis can be very expensive and also increase the excessive workload on medical staff. Considering the shortage of doctors across the world, this is not ideal.</a:t>
            </a: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increased amount of stress and sedentary lifestyle in the modern era combined with the increase in air pollution increased the likelihood of arrhythmia. Arrhythmia in general can be quite harmless. However, untreated it may be fatal and cause heart failures, heart strokes and cardiac arrests. However, traditional methods are very slow and costly and also power intensive. This leads to complications in the diagnosis process.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this project, we propose a new methodology to classify Arrythmia in a fast, low power, efficient and accurate manner via a Field Programmable Gate Array (FPGA) board and various machine learning and preprocessing techniques..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ECG signals are utilized to find Arrythmia in heartbeat. (i.e. ECG signals are pre-processed and then classified into various types of Arrythmia)</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Utilizing FPGA to create application specific circuits helps with keeping the processing costs and power consumption to minimal.</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5367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C57EB-052C-F6EC-7B4A-D784FBA0A46F}"/>
              </a:ext>
            </a:extLst>
          </p:cNvPr>
          <p:cNvSpPr>
            <a:spLocks noGrp="1"/>
          </p:cNvSpPr>
          <p:nvPr>
            <p:ph type="title"/>
          </p:nvPr>
        </p:nvSpPr>
        <p:spPr>
          <a:xfrm>
            <a:off x="838200" y="153192"/>
            <a:ext cx="10515600" cy="1325563"/>
          </a:xfrm>
        </p:spPr>
        <p:txBody>
          <a:bodyPr>
            <a:normAutofit/>
          </a:bodyPr>
          <a:lstStyle/>
          <a:p>
            <a:r>
              <a:rPr lang="en-US" sz="3200" dirty="0">
                <a:latin typeface="Times New Roman" panose="02020603050405020304" pitchFamily="18" charset="0"/>
                <a:cs typeface="Times New Roman" panose="02020603050405020304" pitchFamily="18" charset="0"/>
              </a:rPr>
              <a:t>Novelty</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628E29-2836-40F8-5EB8-E64B95452DB8}"/>
              </a:ext>
            </a:extLst>
          </p:cNvPr>
          <p:cNvSpPr>
            <a:spLocks noGrp="1"/>
          </p:cNvSpPr>
          <p:nvPr>
            <p:ph idx="1"/>
          </p:nvPr>
        </p:nvSpPr>
        <p:spPr>
          <a:xfrm>
            <a:off x="838200" y="1478755"/>
            <a:ext cx="10515600" cy="4351338"/>
          </a:xfrm>
        </p:spPr>
        <p:txBody>
          <a:bodyPr>
            <a:normAutofit fontScale="92500" lnSpcReduction="20000"/>
          </a:bodyPr>
          <a:lstStyle/>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Most of the approaches that were implemented in previous works utilize using various types of entropy and statistical features to classify heartbeats. Although this approach may seem fine (Even if you exclude the high computation cost and time required), further analysis can clearly prove that these approaches lose a lot of data during the preprocessing causing the output to be misclassified. (i.e. lots of critical information of the signal is being lost during the preprocessing).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Additionally, previous works focus on classifying a large time sample into normal/abnormal beats whereas the current work proposes a new idea to classify each individual heartbeat to the normal/abnormal category hence by decreasing the chance of missing abnormal heartbeats.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Additionally, the decision tree was optimized for FPGA deployment via pruning making it more hardware efficient and less power consuming.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Additionally, the faster computation speeds allow for a better real-time implementation compared to the bulky computations required in previous works.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proposed system is also scalable to a larger size implementation easily.</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087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2FD6-B6BD-A968-722C-2B85058D16A4}"/>
              </a:ext>
            </a:extLst>
          </p:cNvPr>
          <p:cNvSpPr>
            <a:spLocks noGrp="1"/>
          </p:cNvSpPr>
          <p:nvPr>
            <p:ph type="title"/>
          </p:nvPr>
        </p:nvSpPr>
        <p:spPr>
          <a:xfrm>
            <a:off x="838200" y="148816"/>
            <a:ext cx="10515600" cy="1325563"/>
          </a:xfrm>
        </p:spPr>
        <p:txBody>
          <a:bodyPr>
            <a:normAutofit/>
          </a:bodyPr>
          <a:lstStyle/>
          <a:p>
            <a:r>
              <a:rPr lang="en-US" sz="3200" dirty="0">
                <a:latin typeface="Times New Roman" panose="02020603050405020304" pitchFamily="18" charset="0"/>
                <a:cs typeface="Times New Roman" panose="02020603050405020304" pitchFamily="18" charset="0"/>
              </a:rPr>
              <a:t>Motivation</a:t>
            </a:r>
            <a:endParaRPr lang="en-IN" sz="3200" dirty="0"/>
          </a:p>
        </p:txBody>
      </p:sp>
      <p:sp>
        <p:nvSpPr>
          <p:cNvPr id="3" name="Content Placeholder 2">
            <a:extLst>
              <a:ext uri="{FF2B5EF4-FFF2-40B4-BE49-F238E27FC236}">
                <a16:creationId xmlns:a16="http://schemas.microsoft.com/office/drawing/2014/main" id="{D3544F7D-2F44-E46F-E8A5-AB90B3566AE8}"/>
              </a:ext>
            </a:extLst>
          </p:cNvPr>
          <p:cNvSpPr>
            <a:spLocks noGrp="1"/>
          </p:cNvSpPr>
          <p:nvPr>
            <p:ph idx="1"/>
          </p:nvPr>
        </p:nvSpPr>
        <p:spPr>
          <a:xfrm>
            <a:off x="838200" y="1474379"/>
            <a:ext cx="10515600" cy="4351338"/>
          </a:xfrm>
        </p:spPr>
        <p:txBody>
          <a:bodyPr>
            <a:normAutofit fontScale="92500" lnSpcReduction="20000"/>
          </a:bodyPr>
          <a:lstStyle/>
          <a:p>
            <a:pPr marL="0" marR="0" algn="just">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Training doctors is a costly process, with estimates suggesting it can take upwards of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250,000$ to 500,000$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USA) to fully train a single doctor over several years. At the same time, India faces a shortage of over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90,000</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doctors, according to recent healthcare statistics. The lack of medical facilities in rural and underserved areas further compounds this issue, leading to increased patient loads and delayed diagnoses for conditions like Arrhythmia.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system aims to address these challenges by providing an automated solution for detecting ‘Arrhythmia’ from ECG signals, potentially reducing diagnosis time by a substantial margin and making quality healthcare more accessible. Implementing this project using FPGA-based solutions, in particular, can operate several times faster and power efficient than traditional CPU-based solutions for signal processing and machine learning tasks.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This efficiency leads to significant cost savings, as these systems may operate at a fraction of the expense of traditional diagnostic equipment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By utilizing FPGA technology for parallel processing, this project aims to give new insights in ECG signal processing in an optimized manner.</a:t>
            </a:r>
            <a:b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Additionally, this system may also be utilized in various future embedded medical devices for its light-weight and power efficient implementation.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743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AA22E-338D-B3B4-4F17-5D2E1674CB60}"/>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Theory</a:t>
            </a:r>
            <a:endParaRPr lang="en-IN" sz="3200" dirty="0"/>
          </a:p>
        </p:txBody>
      </p:sp>
      <p:sp>
        <p:nvSpPr>
          <p:cNvPr id="3" name="Content Placeholder 2">
            <a:extLst>
              <a:ext uri="{FF2B5EF4-FFF2-40B4-BE49-F238E27FC236}">
                <a16:creationId xmlns:a16="http://schemas.microsoft.com/office/drawing/2014/main" id="{0FF7610D-F35F-B552-77BE-6B2071EBD83C}"/>
              </a:ext>
            </a:extLst>
          </p:cNvPr>
          <p:cNvSpPr>
            <a:spLocks noGrp="1"/>
          </p:cNvSpPr>
          <p:nvPr>
            <p:ph idx="1"/>
          </p:nvPr>
        </p:nvSpPr>
        <p:spPr/>
        <p:txBody>
          <a:bodyPr>
            <a:normAutofit/>
          </a:bodyPr>
          <a:lstStyle/>
          <a:p>
            <a:pPr marL="514350" indent="-514350">
              <a:buFont typeface="+mj-lt"/>
              <a:buAutoNum type="arabicPeriod"/>
            </a:pPr>
            <a:r>
              <a:rPr lang="en-US" sz="1700" dirty="0">
                <a:latin typeface="Times New Roman" panose="02020603050405020304" pitchFamily="18" charset="0"/>
                <a:cs typeface="Times New Roman" panose="02020603050405020304" pitchFamily="18" charset="0"/>
              </a:rPr>
              <a:t>ADC conversion and Sampling</a:t>
            </a:r>
          </a:p>
          <a:p>
            <a:pPr marL="514350" indent="-514350">
              <a:buFont typeface="+mj-lt"/>
              <a:buAutoNum type="arabicPeriod"/>
            </a:pPr>
            <a:r>
              <a:rPr lang="en-US" sz="1700" dirty="0">
                <a:latin typeface="Times New Roman" panose="02020603050405020304" pitchFamily="18" charset="0"/>
                <a:cs typeface="Times New Roman" panose="02020603050405020304" pitchFamily="18" charset="0"/>
              </a:rPr>
              <a:t>Data queueing</a:t>
            </a:r>
          </a:p>
          <a:p>
            <a:pPr marL="514350" indent="-514350">
              <a:buFont typeface="+mj-lt"/>
              <a:buAutoNum type="arabicPeriod"/>
            </a:pPr>
            <a:r>
              <a:rPr lang="en-US" sz="1700" dirty="0">
                <a:latin typeface="Times New Roman" panose="02020603050405020304" pitchFamily="18" charset="0"/>
                <a:cs typeface="Times New Roman" panose="02020603050405020304" pitchFamily="18" charset="0"/>
              </a:rPr>
              <a:t>Preprocessing of signals</a:t>
            </a:r>
          </a:p>
          <a:p>
            <a:pPr marL="514350" indent="-514350">
              <a:buFont typeface="+mj-lt"/>
              <a:buAutoNum type="arabicPeriod"/>
            </a:pPr>
            <a:r>
              <a:rPr lang="en-US" sz="1700" dirty="0">
                <a:latin typeface="Times New Roman" panose="02020603050405020304" pitchFamily="18" charset="0"/>
                <a:cs typeface="Times New Roman" panose="02020603050405020304" pitchFamily="18" charset="0"/>
              </a:rPr>
              <a:t>Decision tree</a:t>
            </a:r>
          </a:p>
          <a:p>
            <a:pPr marL="514350" indent="-514350">
              <a:buFont typeface="+mj-lt"/>
              <a:buAutoNum type="arabicPeriod"/>
            </a:pPr>
            <a:r>
              <a:rPr lang="en-IN" sz="1700" dirty="0">
                <a:latin typeface="Times New Roman" panose="02020603050405020304" pitchFamily="18" charset="0"/>
                <a:cs typeface="Times New Roman" panose="02020603050405020304" pitchFamily="18" charset="0"/>
              </a:rPr>
              <a:t>ECG Signal Structure</a:t>
            </a:r>
          </a:p>
          <a:p>
            <a:pPr marL="0" indent="0">
              <a:buNone/>
            </a:pPr>
            <a:endParaRPr lang="en-IN" sz="1700" dirty="0"/>
          </a:p>
        </p:txBody>
      </p:sp>
    </p:spTree>
    <p:extLst>
      <p:ext uri="{BB962C8B-B14F-4D97-AF65-F5344CB8AC3E}">
        <p14:creationId xmlns:p14="http://schemas.microsoft.com/office/powerpoint/2010/main" val="2893272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F8BE2-13C7-ABD0-2991-075D46324A00}"/>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1. ADC conversion and Sampling</a:t>
            </a:r>
            <a:br>
              <a:rPr lang="en-US" sz="3200" dirty="0">
                <a:latin typeface="Times New Roman" panose="02020603050405020304" pitchFamily="18" charset="0"/>
                <a:cs typeface="Times New Roman" panose="02020603050405020304" pitchFamily="18" charset="0"/>
              </a:rPr>
            </a:br>
            <a:endParaRPr lang="en-IN" sz="3200" dirty="0"/>
          </a:p>
        </p:txBody>
      </p:sp>
      <p:sp>
        <p:nvSpPr>
          <p:cNvPr id="3" name="Content Placeholder 2">
            <a:extLst>
              <a:ext uri="{FF2B5EF4-FFF2-40B4-BE49-F238E27FC236}">
                <a16:creationId xmlns:a16="http://schemas.microsoft.com/office/drawing/2014/main" id="{D1B068E7-CD8D-22F4-E4DA-1F9A4751FD21}"/>
              </a:ext>
            </a:extLst>
          </p:cNvPr>
          <p:cNvSpPr>
            <a:spLocks noGrp="1"/>
          </p:cNvSpPr>
          <p:nvPr>
            <p:ph idx="1"/>
          </p:nvPr>
        </p:nvSpPr>
        <p:spPr>
          <a:xfrm>
            <a:off x="838200" y="1520825"/>
            <a:ext cx="10515600" cy="4351338"/>
          </a:xfrm>
        </p:spPr>
        <p:txBody>
          <a:bodyPr>
            <a:normAutofit lnSpcReduction="10000"/>
          </a:bodyPr>
          <a:lstStyle/>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By default, ECG signals are analog in nature. However, FPGAs deal with digital data and hence cannot process ECG signals as is. Additionally, the signal should be sampled at a specific frequency. To determine the ideal value of this frequency, we refer to the Nyquist sampling rate of ECG signals.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For generalized medical applications, ECG signals are expected to be sampled at 150-300Hz. For a narrow application such as Arrythmia detection, a sampling frequency of 125Hz helps in reducing in unnecessary noise in the signal.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To convert the analog values of the ECG sensor output to digital values, we use a simple external ADC.</a:t>
            </a:r>
            <a:b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Some FPGA boards contain internal ADC modules which can be utilized for the same purpose. However, this was avoided to maintain a generalized approach independent of board.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our case, an ESP32 was used as the ADC. The ESP32 contains an onboard 12-bit ADC. This 12 Bit data is passed to the FPGA board via its PMOD ports parallelly. (i.e. 12-bits at same time).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clock divider was made by simply dividing the internal 100MHz of the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Nexys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DDR4 board with a factor of 80,000 by using a mod 80,000 counter.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64297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EEB8-25A1-9F5D-FD04-05364DBF3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529BE-C4B4-8AD5-F61F-9F076D5AAD57}"/>
              </a:ext>
            </a:extLst>
          </p:cNvPr>
          <p:cNvSpPr>
            <a:spLocks noGrp="1"/>
          </p:cNvSpPr>
          <p:nvPr>
            <p:ph type="title"/>
          </p:nvPr>
        </p:nvSpPr>
        <p:spPr>
          <a:xfrm>
            <a:off x="826243" y="216310"/>
            <a:ext cx="3932237" cy="1022555"/>
          </a:xfrm>
        </p:spPr>
        <p:txBody>
          <a:bodyPr>
            <a:normAutofit/>
          </a:bodyPr>
          <a:lstStyle/>
          <a:p>
            <a:r>
              <a:rPr lang="en-US" dirty="0">
                <a:latin typeface="Times New Roman" panose="02020603050405020304" pitchFamily="18" charset="0"/>
                <a:cs typeface="Times New Roman" panose="02020603050405020304" pitchFamily="18" charset="0"/>
              </a:rPr>
              <a:t>2. Data Queueing</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93D555EF-EA2C-E6FB-CE2D-4497C4237F38}"/>
              </a:ext>
            </a:extLst>
          </p:cNvPr>
          <p:cNvSpPr>
            <a:spLocks noGrp="1"/>
          </p:cNvSpPr>
          <p:nvPr>
            <p:ph type="body" sz="half" idx="2"/>
          </p:nvPr>
        </p:nvSpPr>
        <p:spPr>
          <a:xfrm>
            <a:off x="112102" y="1539551"/>
            <a:ext cx="6652491" cy="4758612"/>
          </a:xfrm>
        </p:spPr>
        <p:txBody>
          <a:bodyPr>
            <a:normAutofit/>
          </a:bodyPr>
          <a:lstStyle/>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The latest ECG data samples obtained from the external ADC are required to be held on the FPGA in a FIFO manner for further processing. </a:t>
            </a:r>
          </a:p>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For this requirement, we create a n-bit shift register using D-Flip flops.</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(Note: - Here “N” is the length of the queue and not the ADC resolution).</a:t>
            </a:r>
          </a:p>
          <a:p>
            <a:pPr marL="457200">
              <a:lnSpc>
                <a:spcPct val="115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13 Of these shift-register based queues are created. Each of the queues is used to create a queue of one of the samples.</a:t>
            </a:r>
          </a:p>
          <a:p>
            <a:pPr marL="457200">
              <a:lnSpc>
                <a:spcPct val="115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(First register is used to hold zeroes which indicates the sign of the data point)</a:t>
            </a:r>
          </a:p>
          <a:p>
            <a:pPr marL="457200">
              <a:lnSpc>
                <a:spcPct val="115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Here we utilized a serial in parallel out register for the implementation.</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1" name="Content Placeholder 10" descr="Beginner's Guide to the Shift Register in Digital Electronics">
            <a:extLst>
              <a:ext uri="{FF2B5EF4-FFF2-40B4-BE49-F238E27FC236}">
                <a16:creationId xmlns:a16="http://schemas.microsoft.com/office/drawing/2014/main" id="{50CB1054-8CF2-8EBF-0DEE-80F23CCA830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01510" y="1539551"/>
            <a:ext cx="5290490" cy="2724447"/>
          </a:xfrm>
          <a:prstGeom prst="rect">
            <a:avLst/>
          </a:prstGeom>
          <a:noFill/>
          <a:ln>
            <a:noFill/>
          </a:ln>
        </p:spPr>
      </p:pic>
      <p:sp>
        <p:nvSpPr>
          <p:cNvPr id="3" name="TextBox 2">
            <a:extLst>
              <a:ext uri="{FF2B5EF4-FFF2-40B4-BE49-F238E27FC236}">
                <a16:creationId xmlns:a16="http://schemas.microsoft.com/office/drawing/2014/main" id="{EB669C7E-DBF0-85F4-2EAD-BF494E4D14A1}"/>
              </a:ext>
            </a:extLst>
          </p:cNvPr>
          <p:cNvSpPr txBox="1"/>
          <p:nvPr/>
        </p:nvSpPr>
        <p:spPr>
          <a:xfrm>
            <a:off x="9078421" y="4263998"/>
            <a:ext cx="1194751" cy="369332"/>
          </a:xfrm>
          <a:prstGeom prst="rect">
            <a:avLst/>
          </a:prstGeom>
          <a:noFill/>
        </p:spPr>
        <p:txBody>
          <a:bodyPr wrap="none" rtlCol="0">
            <a:spAutoFit/>
          </a:bodyPr>
          <a:lstStyle/>
          <a:p>
            <a:r>
              <a:rPr lang="en-IN" dirty="0"/>
              <a:t>Figure 1[9]</a:t>
            </a:r>
          </a:p>
        </p:txBody>
      </p:sp>
    </p:spTree>
    <p:extLst>
      <p:ext uri="{BB962C8B-B14F-4D97-AF65-F5344CB8AC3E}">
        <p14:creationId xmlns:p14="http://schemas.microsoft.com/office/powerpoint/2010/main" val="126803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9E45D-4980-79C2-6987-18C421BA6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5AE6A-4E0B-6AC2-272D-F6FA9877FFD4}"/>
              </a:ext>
            </a:extLst>
          </p:cNvPr>
          <p:cNvSpPr>
            <a:spLocks noGrp="1"/>
          </p:cNvSpPr>
          <p:nvPr>
            <p:ph type="title"/>
          </p:nvPr>
        </p:nvSpPr>
        <p:spPr>
          <a:xfrm>
            <a:off x="821384" y="245807"/>
            <a:ext cx="5574557" cy="914400"/>
          </a:xfrm>
        </p:spPr>
        <p:txBody>
          <a:bodyPr/>
          <a:lstStyle/>
          <a:p>
            <a:r>
              <a:rPr lang="en-US" dirty="0">
                <a:latin typeface="Times New Roman" panose="02020603050405020304" pitchFamily="18" charset="0"/>
                <a:cs typeface="Times New Roman" panose="02020603050405020304" pitchFamily="18" charset="0"/>
              </a:rPr>
              <a:t>3. Preprocessing of signals</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A57DA2F8-07E4-C384-6146-A348C1029E4A}"/>
                  </a:ext>
                </a:extLst>
              </p:cNvPr>
              <p:cNvSpPr>
                <a:spLocks noGrp="1"/>
              </p:cNvSpPr>
              <p:nvPr>
                <p:ph type="body" sz="half" idx="2"/>
              </p:nvPr>
            </p:nvSpPr>
            <p:spPr>
              <a:xfrm>
                <a:off x="233265" y="1352939"/>
                <a:ext cx="6750797" cy="5094514"/>
              </a:xfrm>
            </p:spPr>
            <p:txBody>
              <a:bodyPr>
                <a:normAutofit fontScale="92500" lnSpcReduction="20000"/>
              </a:bodyPr>
              <a:lstStyle/>
              <a:p>
                <a:pPr marL="457200">
                  <a:lnSpc>
                    <a:spcPct val="107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Preprocessing of Signals Can be done either using serial or parallel.</a:t>
                </a:r>
                <a:r>
                  <a:rPr lang="en-US" sz="1800" dirty="0">
                    <a:effectLst/>
                    <a:latin typeface="Times New Roman" panose="02020603050405020304" pitchFamily="18" charset="0"/>
                    <a:ea typeface="Calibri" panose="020F0502020204030204" pitchFamily="34" charset="0"/>
                  </a:rPr>
                  <a:t> This is done by detecting peaks and selecting the segment around first two peaks. </a:t>
                </a:r>
              </a:p>
              <a:p>
                <a:pPr marL="80010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rPr>
                  <a:t>Detection of peaks in ECG Signal: </a:t>
                </a:r>
                <a:endParaRPr lang="en-US" sz="1800" dirty="0">
                  <a:latin typeface="Times New Roman" panose="02020603050405020304" pitchFamily="18" charset="0"/>
                  <a:ea typeface="Calibri" panose="020F0502020204030204" pitchFamily="34" charset="0"/>
                </a:endParaRPr>
              </a:p>
              <a:p>
                <a:pPr marL="914400" lvl="1">
                  <a:lnSpc>
                    <a:spcPct val="107000"/>
                  </a:lnSpc>
                </a:pPr>
                <a:r>
                  <a:rPr lang="en-US" sz="17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A local peak is considered a potential peak if height is greater than or equal to threshold height</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80010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rPr>
                  <a:t>Filtering Peaks Based on Distance: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00150" lvl="2" indent="-285750">
                  <a:lnSpc>
                    <a:spcPct val="115000"/>
                  </a:lnSpc>
                  <a:buFont typeface="Arial" panose="020B0604020202020204" pitchFamily="34" charset="0"/>
                  <a:buChar char="•"/>
                </a:pP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Some peaks might very close to each other, so we a filter</a:t>
                </a:r>
                <a:r>
                  <a:rPr lang="en-IN" sz="1700" kern="100" dirty="0">
                    <a:latin typeface="Calibri" panose="020F0502020204030204" pitchFamily="34" charset="0"/>
                    <a:ea typeface="Calibri" panose="020F0502020204030204" pitchFamily="34" charset="0"/>
                    <a:cs typeface="Times New Roman" panose="02020603050405020304" pitchFamily="18" charset="0"/>
                  </a:rPr>
                  <a:t> </a:t>
                </a: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the   peaks in such a way that, we get maximum number peaks with distance between any two peaks greater than a fixed distance. Let’s call the fixed distance as </a:t>
                </a:r>
                <a14:m>
                  <m:oMath xmlns:m="http://schemas.openxmlformats.org/officeDocument/2006/math">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𝐷</m:t>
                    </m:r>
                  </m:oMath>
                </a14:m>
                <a:r>
                  <a:rPr lang="en-IN" sz="1700" kern="100" dirty="0">
                    <a:effectLst/>
                    <a:latin typeface="Calibri" panose="020F0502020204030204" pitchFamily="34" charset="0"/>
                    <a:ea typeface="Calibri" panose="020F0502020204030204" pitchFamily="34" charset="0"/>
                    <a:cs typeface="Times New Roman" panose="02020603050405020304" pitchFamily="18" charset="0"/>
                  </a:rPr>
                  <a:t>.</a:t>
                </a:r>
              </a:p>
              <a:p>
                <a:pPr marL="1200150" lvl="2" indent="-285750">
                  <a:lnSpc>
                    <a:spcPct val="115000"/>
                  </a:lnSpc>
                  <a:buFont typeface="Arial" panose="020B0604020202020204" pitchFamily="34" charset="0"/>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We follow a simple greedy approach as follows.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15000"/>
                  </a:lnSpc>
                </a:pP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3.     For each peak </a:t>
                </a:r>
                <a14:m>
                  <m:oMath xmlns:m="http://schemas.openxmlformats.org/officeDocument/2006/math">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𝑃𝑖</m:t>
                    </m:r>
                  </m:oMath>
                </a14:m>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15000"/>
                  </a:lnSpc>
                  <a:buFont typeface="Wingdings" panose="05000000000000000000" pitchFamily="2" charset="2"/>
                  <a:buChar char=""/>
                </a:pPr>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If distance between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 and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if less than </a:t>
                </a:r>
                <a14:m>
                  <m:oMath xmlns:m="http://schemas.openxmlformats.org/officeDocument/2006/math">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𝐷</m:t>
                    </m:r>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then we replace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with maximum amplitude of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and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oMath>
                </a14:m>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15000"/>
                  </a:lnSpc>
                  <a:buFont typeface="Wingdings" panose="05000000000000000000" pitchFamily="2" charset="2"/>
                  <a:buChar char=""/>
                </a:pPr>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Else we just add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 to peaks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200150" lvl="2" indent="-285750">
                  <a:lnSpc>
                    <a:spcPct val="115000"/>
                  </a:lnSpc>
                  <a:buFont typeface="Arial" panose="020B0604020202020204" pitchFamily="34" charset="0"/>
                  <a:buChar char="•"/>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 Placeholder 6">
                <a:extLst>
                  <a:ext uri="{FF2B5EF4-FFF2-40B4-BE49-F238E27FC236}">
                    <a16:creationId xmlns:a16="http://schemas.microsoft.com/office/drawing/2014/main" id="{A57DA2F8-07E4-C384-6146-A348C1029E4A}"/>
                  </a:ext>
                </a:extLst>
              </p:cNvPr>
              <p:cNvSpPr>
                <a:spLocks noGrp="1" noRot="1" noChangeAspect="1" noMove="1" noResize="1" noEditPoints="1" noAdjustHandles="1" noChangeArrowheads="1" noChangeShapeType="1" noTextEdit="1"/>
              </p:cNvSpPr>
              <p:nvPr>
                <p:ph type="body" sz="half" idx="2"/>
              </p:nvPr>
            </p:nvSpPr>
            <p:spPr>
              <a:xfrm>
                <a:off x="233265" y="1352939"/>
                <a:ext cx="6750797" cy="5094514"/>
              </a:xfrm>
              <a:blipFill>
                <a:blip r:embed="rId2"/>
                <a:stretch>
                  <a:fillRect t="-957" r="-451"/>
                </a:stretch>
              </a:blipFill>
            </p:spPr>
            <p:txBody>
              <a:bodyPr/>
              <a:lstStyle/>
              <a:p>
                <a:r>
                  <a:rPr lang="en-IN">
                    <a:noFill/>
                  </a:rPr>
                  <a:t> </a:t>
                </a:r>
              </a:p>
            </p:txBody>
          </p:sp>
        </mc:Fallback>
      </mc:AlternateContent>
      <p:pic>
        <p:nvPicPr>
          <p:cNvPr id="6" name="Content Placeholder 5">
            <a:extLst>
              <a:ext uri="{FF2B5EF4-FFF2-40B4-BE49-F238E27FC236}">
                <a16:creationId xmlns:a16="http://schemas.microsoft.com/office/drawing/2014/main" id="{48EF3A80-6FCD-2917-97A8-77050BEABF2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993009" y="0"/>
            <a:ext cx="2655325" cy="6777531"/>
          </a:xfrm>
          <a:prstGeom prst="rect">
            <a:avLst/>
          </a:prstGeom>
        </p:spPr>
      </p:pic>
      <p:sp>
        <p:nvSpPr>
          <p:cNvPr id="3" name="TextBox 2">
            <a:extLst>
              <a:ext uri="{FF2B5EF4-FFF2-40B4-BE49-F238E27FC236}">
                <a16:creationId xmlns:a16="http://schemas.microsoft.com/office/drawing/2014/main" id="{8F2C0739-56F0-1F5D-C61B-9579592F68BE}"/>
              </a:ext>
            </a:extLst>
          </p:cNvPr>
          <p:cNvSpPr txBox="1"/>
          <p:nvPr/>
        </p:nvSpPr>
        <p:spPr>
          <a:xfrm>
            <a:off x="8955873" y="6488668"/>
            <a:ext cx="1074247" cy="369332"/>
          </a:xfrm>
          <a:prstGeom prst="rect">
            <a:avLst/>
          </a:prstGeom>
          <a:noFill/>
        </p:spPr>
        <p:txBody>
          <a:bodyPr wrap="square" rtlCol="0">
            <a:spAutoFit/>
          </a:bodyPr>
          <a:lstStyle/>
          <a:p>
            <a:r>
              <a:rPr lang="en-IN" dirty="0"/>
              <a:t>Figure 2</a:t>
            </a:r>
          </a:p>
        </p:txBody>
      </p:sp>
    </p:spTree>
    <p:extLst>
      <p:ext uri="{BB962C8B-B14F-4D97-AF65-F5344CB8AC3E}">
        <p14:creationId xmlns:p14="http://schemas.microsoft.com/office/powerpoint/2010/main" val="2760866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72E7FF-A1C5-1E80-011A-0618ACF04AC4}"/>
                  </a:ext>
                </a:extLst>
              </p:cNvPr>
              <p:cNvSpPr txBox="1"/>
              <p:nvPr/>
            </p:nvSpPr>
            <p:spPr>
              <a:xfrm>
                <a:off x="391886" y="690465"/>
                <a:ext cx="7464490" cy="5030095"/>
              </a:xfrm>
              <a:prstGeom prst="rect">
                <a:avLst/>
              </a:prstGeom>
              <a:noFill/>
            </p:spPr>
            <p:txBody>
              <a:bodyPr wrap="square" rtlCol="0">
                <a:spAutoFit/>
              </a:bodyPr>
              <a:lstStyle/>
              <a:p>
                <a:pPr marL="457200">
                  <a:lnSpc>
                    <a:spcPct val="115000"/>
                  </a:lnSpc>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3. Extracting the Signal: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If number of valid peaks are less than two then then output all zeroes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now we select the signal segment from first peak to second peak also extra 40 samples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if the signal is less than 187 then it is padded with zeros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pPr marL="457200">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4. Scaling the signal: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14:m>
                  <m:oMath xmlns:m="http://schemas.openxmlformats.org/officeDocument/2006/math">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𝑚𝑖𝑛</m:t>
                        </m:r>
                      </m:sub>
                    </m:s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𝑚𝑖</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𝑛</m:t>
                        </m:r>
                      </m:e>
                      <m:sub>
                        <m:d>
                          <m:dPr>
                            <m:begChr m:val="{"/>
                            <m:endChr m:val="}"/>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𝑆</m:t>
                            </m:r>
                          </m:e>
                        </m:d>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ub>
                    </m:s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e>
                      <m: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ub>
                    </m:sSub>
                  </m:oMath>
                </a14:m>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14:m>
                  <m:oMath xmlns:m="http://schemas.openxmlformats.org/officeDocument/2006/math">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𝑚𝑎</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d>
                          <m:dPr>
                            <m:begChr m:val="{"/>
                            <m:endChr m:val="}"/>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𝑆</m:t>
                            </m:r>
                          </m:e>
                        </m:d>
                      </m:sub>
                    </m:s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e>
                      <m: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ub>
                    </m:sSub>
                  </m:oMath>
                </a14:m>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14:m>
                  <m:oMath xmlns:m="http://schemas.openxmlformats.org/officeDocument/2006/math">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𝑅</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𝑚𝑎𝑥</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(1 , </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m:rPr>
                            <m:sty m:val="p"/>
                          </m:rPr>
                          <a:rPr lang="en-US" sz="1600" kern="100">
                            <a:effectLst/>
                            <a:latin typeface="Cambria Math" panose="02040503050406030204" pitchFamily="18" charset="0"/>
                            <a:ea typeface="Calibri" panose="020F0502020204030204" pitchFamily="34" charset="0"/>
                            <a:cs typeface="Times New Roman" panose="02020603050405020304" pitchFamily="18" charset="0"/>
                          </a:rPr>
                          <m:t>min</m:t>
                        </m:r>
                        <m:r>
                          <a:rPr lang="en-US" sz="1600" kern="100">
                            <a:effectLst/>
                            <a:latin typeface="Cambria Math" panose="02040503050406030204" pitchFamily="18" charset="0"/>
                            <a:ea typeface="Calibri" panose="020F0502020204030204" pitchFamily="34" charset="0"/>
                            <a:cs typeface="Times New Roman" panose="02020603050405020304" pitchFamily="18" charset="0"/>
                          </a:rPr>
                          <m:t>⁡</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sub>
                    </m:sSub>
                  </m:oMath>
                </a14:m>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Every </a:t>
                </a:r>
                <a14:m>
                  <m:oMath xmlns:m="http://schemas.openxmlformats.org/officeDocument/2006/math">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is scaled in range </a:t>
                </a:r>
                <a14:m>
                  <m:oMath xmlns:m="http://schemas.openxmlformats.org/officeDocument/2006/math">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[0,4095 ]</m:t>
                    </m:r>
                  </m:oMath>
                </a14:m>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pPr>
                <a14:m>
                  <m:oMath xmlns:m="http://schemas.openxmlformats.org/officeDocument/2006/math">
                    <m:sSub>
                      <m:sSubPr>
                        <m:ctrlPr>
                          <a:rPr lang="en-IN" sz="18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d>
                      <m:dPr>
                        <m:ctrlPr>
                          <a:rPr lang="en-IN" sz="1800" i="1" kern="100">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IN"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𝑚𝑖</m:t>
                            </m:r>
                          </m:sub>
                        </m:sSub>
                      </m:e>
                    </m:d>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×4095÷</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𝑟𝑎𝑛𝑔𝑒</m:t>
                    </m:r>
                  </m:oMath>
                </a14:m>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pPr>
                <a:endParaRPr lang="en-IN" sz="1600" kern="100" dirty="0">
                  <a:latin typeface="Times New Roman" panose="02020603050405020304" pitchFamily="18" charset="0"/>
                  <a:ea typeface="Calibri" panose="020F0502020204030204" pitchFamily="34" charset="0"/>
                  <a:cs typeface="Times New Roman" panose="02020603050405020304" pitchFamily="18" charset="0"/>
                </a:endParaRPr>
              </a:p>
              <a:p>
                <a:pPr lvl="1">
                  <a:lnSpc>
                    <a:spcPct val="115000"/>
                  </a:lnSpc>
                  <a:spcAft>
                    <a:spcPts val="800"/>
                  </a:spcAft>
                </a:pP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mc:Choice>
        <mc:Fallback xmlns="">
          <p:sp>
            <p:nvSpPr>
              <p:cNvPr id="3" name="TextBox 2">
                <a:extLst>
                  <a:ext uri="{FF2B5EF4-FFF2-40B4-BE49-F238E27FC236}">
                    <a16:creationId xmlns:a16="http://schemas.microsoft.com/office/drawing/2014/main" id="{B272E7FF-A1C5-1E80-011A-0618ACF04AC4}"/>
                  </a:ext>
                </a:extLst>
              </p:cNvPr>
              <p:cNvSpPr txBox="1">
                <a:spLocks noRot="1" noChangeAspect="1" noMove="1" noResize="1" noEditPoints="1" noAdjustHandles="1" noChangeArrowheads="1" noChangeShapeType="1" noTextEdit="1"/>
              </p:cNvSpPr>
              <p:nvPr/>
            </p:nvSpPr>
            <p:spPr>
              <a:xfrm>
                <a:off x="391886" y="690465"/>
                <a:ext cx="7464490" cy="5030095"/>
              </a:xfrm>
              <a:prstGeom prst="rect">
                <a:avLst/>
              </a:prstGeom>
              <a:blipFill>
                <a:blip r:embed="rId2"/>
                <a:stretch>
                  <a:fillRect/>
                </a:stretch>
              </a:blipFill>
            </p:spPr>
            <p:txBody>
              <a:bodyPr/>
              <a:lstStyle/>
              <a:p>
                <a:r>
                  <a:rPr lang="en-IN">
                    <a:noFill/>
                  </a:rPr>
                  <a:t> </a:t>
                </a:r>
              </a:p>
            </p:txBody>
          </p:sp>
        </mc:Fallback>
      </mc:AlternateContent>
      <p:graphicFrame>
        <p:nvGraphicFramePr>
          <p:cNvPr id="2" name="Table 1">
            <a:extLst>
              <a:ext uri="{FF2B5EF4-FFF2-40B4-BE49-F238E27FC236}">
                <a16:creationId xmlns:a16="http://schemas.microsoft.com/office/drawing/2014/main" id="{8F022CD2-CD20-96B6-3FFB-B662EE48599D}"/>
              </a:ext>
            </a:extLst>
          </p:cNvPr>
          <p:cNvGraphicFramePr>
            <a:graphicFrameLocks noGrp="1"/>
          </p:cNvGraphicFramePr>
          <p:nvPr>
            <p:extLst>
              <p:ext uri="{D42A27DB-BD31-4B8C-83A1-F6EECF244321}">
                <p14:modId xmlns:p14="http://schemas.microsoft.com/office/powerpoint/2010/main" val="2400868025"/>
              </p:ext>
            </p:extLst>
          </p:nvPr>
        </p:nvGraphicFramePr>
        <p:xfrm>
          <a:off x="5918744" y="2674588"/>
          <a:ext cx="5881370" cy="1508824"/>
        </p:xfrm>
        <a:graphic>
          <a:graphicData uri="http://schemas.openxmlformats.org/drawingml/2006/table">
            <a:tbl>
              <a:tblPr firstRow="1" firstCol="1" bandRow="1">
                <a:tableStyleId>{5C22544A-7EE6-4342-B048-85BDC9FD1C3A}</a:tableStyleId>
              </a:tblPr>
              <a:tblGrid>
                <a:gridCol w="2312035">
                  <a:extLst>
                    <a:ext uri="{9D8B030D-6E8A-4147-A177-3AD203B41FA5}">
                      <a16:colId xmlns:a16="http://schemas.microsoft.com/office/drawing/2014/main" val="1876408568"/>
                    </a:ext>
                  </a:extLst>
                </a:gridCol>
                <a:gridCol w="2002790">
                  <a:extLst>
                    <a:ext uri="{9D8B030D-6E8A-4147-A177-3AD203B41FA5}">
                      <a16:colId xmlns:a16="http://schemas.microsoft.com/office/drawing/2014/main" val="2697105457"/>
                    </a:ext>
                  </a:extLst>
                </a:gridCol>
                <a:gridCol w="1566545">
                  <a:extLst>
                    <a:ext uri="{9D8B030D-6E8A-4147-A177-3AD203B41FA5}">
                      <a16:colId xmlns:a16="http://schemas.microsoft.com/office/drawing/2014/main" val="27444181"/>
                    </a:ext>
                  </a:extLst>
                </a:gridCol>
              </a:tblGrid>
              <a:tr h="516255">
                <a:tc>
                  <a:txBody>
                    <a:bodyPr/>
                    <a:lstStyle/>
                    <a:p>
                      <a:pPr marL="0" marR="0" algn="l">
                        <a:lnSpc>
                          <a:spcPct val="115000"/>
                        </a:lnSpc>
                        <a:spcAft>
                          <a:spcPts val="800"/>
                        </a:spcAft>
                        <a:buNone/>
                      </a:pPr>
                      <a:r>
                        <a:rPr lang="en-US" sz="1800" kern="100">
                          <a:effectLst/>
                        </a:rPr>
                        <a:t>Implementation Type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a:effectLst/>
                        </a:rPr>
                        <a:t>Processing time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a:effectLst/>
                        </a:rPr>
                        <a:t>LUT Utilization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3013944"/>
                  </a:ext>
                </a:extLst>
              </a:tr>
              <a:tr h="516255">
                <a:tc>
                  <a:txBody>
                    <a:bodyPr/>
                    <a:lstStyle/>
                    <a:p>
                      <a:pPr marL="0" marR="0" algn="l">
                        <a:lnSpc>
                          <a:spcPct val="115000"/>
                        </a:lnSpc>
                        <a:spcAft>
                          <a:spcPts val="800"/>
                        </a:spcAft>
                        <a:buNone/>
                      </a:pPr>
                      <a:r>
                        <a:rPr lang="en-US" sz="1800" kern="100">
                          <a:effectLst/>
                        </a:rPr>
                        <a:t>Parallel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tabLst>
                          <a:tab pos="676275" algn="ctr"/>
                        </a:tabLst>
                      </a:pPr>
                      <a:r>
                        <a:rPr lang="en-US" sz="1800" kern="100">
                          <a:effectLst/>
                        </a:rPr>
                        <a:t> &lt;100ns (estimate)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400" kern="100">
                          <a:effectLst/>
                        </a:rPr>
                        <a:t>127945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7972805"/>
                  </a:ext>
                </a:extLst>
              </a:tr>
              <a:tr h="396240">
                <a:tc>
                  <a:txBody>
                    <a:bodyPr/>
                    <a:lstStyle/>
                    <a:p>
                      <a:pPr marL="0" marR="0" algn="l">
                        <a:lnSpc>
                          <a:spcPct val="115000"/>
                        </a:lnSpc>
                        <a:spcAft>
                          <a:spcPts val="800"/>
                        </a:spcAft>
                        <a:buNone/>
                      </a:pPr>
                      <a:r>
                        <a:rPr lang="en-US" sz="1800" kern="100">
                          <a:effectLst/>
                        </a:rPr>
                        <a:t>Serial ASM</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400" kern="100">
                          <a:effectLst/>
                        </a:rPr>
                        <a:t>Around 675 clock cycles (worst case)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400" kern="100" dirty="0">
                          <a:effectLst/>
                        </a:rPr>
                        <a:t>24052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8031517"/>
                  </a:ext>
                </a:extLst>
              </a:tr>
            </a:tbl>
          </a:graphicData>
        </a:graphic>
      </p:graphicFrame>
    </p:spTree>
    <p:extLst>
      <p:ext uri="{BB962C8B-B14F-4D97-AF65-F5344CB8AC3E}">
        <p14:creationId xmlns:p14="http://schemas.microsoft.com/office/powerpoint/2010/main" val="955798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792CF-8CDA-57A2-114B-D8D2620D6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764B4-85DC-1481-1DFF-5C8B1E482447}"/>
              </a:ext>
            </a:extLst>
          </p:cNvPr>
          <p:cNvSpPr>
            <a:spLocks noGrp="1"/>
          </p:cNvSpPr>
          <p:nvPr>
            <p:ph type="title"/>
          </p:nvPr>
        </p:nvSpPr>
        <p:spPr>
          <a:xfrm>
            <a:off x="1180204" y="516855"/>
            <a:ext cx="5554892" cy="776748"/>
          </a:xfrm>
        </p:spPr>
        <p:txBody>
          <a:bodyPr/>
          <a:lstStyle/>
          <a:p>
            <a:r>
              <a:rPr lang="en-US" dirty="0">
                <a:latin typeface="Times New Roman" panose="02020603050405020304" pitchFamily="18" charset="0"/>
                <a:cs typeface="Times New Roman" panose="02020603050405020304" pitchFamily="18" charset="0"/>
              </a:rPr>
              <a:t>4.Decision Tree</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EA42ED09-6257-5957-EFE0-09F1F2E63888}"/>
              </a:ext>
            </a:extLst>
          </p:cNvPr>
          <p:cNvSpPr>
            <a:spLocks noGrp="1"/>
          </p:cNvSpPr>
          <p:nvPr>
            <p:ph type="body" sz="half" idx="2"/>
          </p:nvPr>
        </p:nvSpPr>
        <p:spPr>
          <a:xfrm>
            <a:off x="673676" y="1293603"/>
            <a:ext cx="5860025" cy="4788054"/>
          </a:xfrm>
        </p:spPr>
        <p:txBody>
          <a:bodyPr>
            <a:noAutofit/>
          </a:bodyPr>
          <a:lstStyle/>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 decision tree is a machine learning model that classifies input data based on various “decision nodes”. It is called a “Tree” due to its shape.</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15000"/>
              </a:lnSpc>
              <a:spcAft>
                <a:spcPts val="800"/>
              </a:spcAft>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Decision Trees can be used for both classification and regression tasks in general. In this particular study, we utilize them for classification.</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The MIT-BIH database is used to the train the decision tree model and later validate its accuracy. To decrease the hardware used and increase the accuracy, we “Prune” the decision tree using Cost Complexity Pruning.</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We choose an ideal CCP-Alpha value by testing the decision tree on a part of the Validation data and check the influence of various nodes on the output. Afterwards, we prune the tree by removing the nodes with a low value of CCP-Alpha (i.e. nodes whose existence is not significant to the decision making).</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a:lnSpc>
                <a:spcPct val="107000"/>
              </a:lnSpc>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B61156C3-164A-1A3E-96A2-EFBAAD08387A}"/>
              </a:ext>
            </a:extLst>
          </p:cNvPr>
          <p:cNvGraphicFramePr>
            <a:graphicFrameLocks noGrp="1"/>
          </p:cNvGraphicFramePr>
          <p:nvPr>
            <p:extLst>
              <p:ext uri="{D42A27DB-BD31-4B8C-83A1-F6EECF244321}">
                <p14:modId xmlns:p14="http://schemas.microsoft.com/office/powerpoint/2010/main" val="2544737671"/>
              </p:ext>
            </p:extLst>
          </p:nvPr>
        </p:nvGraphicFramePr>
        <p:xfrm>
          <a:off x="6533701" y="3004138"/>
          <a:ext cx="5448473" cy="1108124"/>
        </p:xfrm>
        <a:graphic>
          <a:graphicData uri="http://schemas.openxmlformats.org/drawingml/2006/table">
            <a:tbl>
              <a:tblPr firstRow="1" firstCol="1" bandRow="1">
                <a:tableStyleId>{5C22544A-7EE6-4342-B048-85BDC9FD1C3A}</a:tableStyleId>
              </a:tblPr>
              <a:tblGrid>
                <a:gridCol w="1816961">
                  <a:extLst>
                    <a:ext uri="{9D8B030D-6E8A-4147-A177-3AD203B41FA5}">
                      <a16:colId xmlns:a16="http://schemas.microsoft.com/office/drawing/2014/main" val="2036448366"/>
                    </a:ext>
                  </a:extLst>
                </a:gridCol>
                <a:gridCol w="1815756">
                  <a:extLst>
                    <a:ext uri="{9D8B030D-6E8A-4147-A177-3AD203B41FA5}">
                      <a16:colId xmlns:a16="http://schemas.microsoft.com/office/drawing/2014/main" val="3994311166"/>
                    </a:ext>
                  </a:extLst>
                </a:gridCol>
                <a:gridCol w="1815756">
                  <a:extLst>
                    <a:ext uri="{9D8B030D-6E8A-4147-A177-3AD203B41FA5}">
                      <a16:colId xmlns:a16="http://schemas.microsoft.com/office/drawing/2014/main" val="639964331"/>
                    </a:ext>
                  </a:extLst>
                </a:gridCol>
              </a:tblGrid>
              <a:tr h="373992">
                <a:tc>
                  <a:txBody>
                    <a:bodyPr/>
                    <a:lstStyle/>
                    <a:p>
                      <a:pPr marL="0" marR="0" algn="ctr">
                        <a:lnSpc>
                          <a:spcPct val="115000"/>
                        </a:lnSpc>
                        <a:buNone/>
                      </a:pPr>
                      <a:r>
                        <a:rPr lang="en-US" sz="1300" kern="100">
                          <a:effectLst/>
                        </a:rPr>
                        <a:t>Tree 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buNone/>
                      </a:pPr>
                      <a:r>
                        <a:rPr lang="en-US" sz="1300" kern="100">
                          <a:effectLst/>
                        </a:rPr>
                        <a:t>Number of nodes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spcAft>
                          <a:spcPts val="800"/>
                        </a:spcAft>
                        <a:buNone/>
                      </a:pPr>
                      <a:r>
                        <a:rPr lang="en-US" sz="1300" kern="100">
                          <a:effectLst/>
                        </a:rPr>
                        <a:t>Accuracy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extLst>
                  <a:ext uri="{0D108BD9-81ED-4DB2-BD59-A6C34878D82A}">
                    <a16:rowId xmlns:a16="http://schemas.microsoft.com/office/drawing/2014/main" val="3671623557"/>
                  </a:ext>
                </a:extLst>
              </a:tr>
              <a:tr h="360140">
                <a:tc>
                  <a:txBody>
                    <a:bodyPr/>
                    <a:lstStyle/>
                    <a:p>
                      <a:pPr marL="0" marR="0" algn="ctr">
                        <a:lnSpc>
                          <a:spcPct val="115000"/>
                        </a:lnSpc>
                        <a:buNone/>
                      </a:pPr>
                      <a:r>
                        <a:rPr lang="en-US" sz="1300" kern="100">
                          <a:effectLst/>
                        </a:rPr>
                        <a:t>Unpruned Tree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buNone/>
                      </a:pPr>
                      <a:r>
                        <a:rPr lang="en-US" sz="1300" kern="100">
                          <a:effectLst/>
                        </a:rPr>
                        <a:t>4711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spcAft>
                          <a:spcPts val="800"/>
                        </a:spcAft>
                        <a:buNone/>
                      </a:pPr>
                      <a:r>
                        <a:rPr lang="en-IN" sz="1300" kern="100">
                          <a:effectLst/>
                        </a:rPr>
                        <a:t>95.39%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extLst>
                  <a:ext uri="{0D108BD9-81ED-4DB2-BD59-A6C34878D82A}">
                    <a16:rowId xmlns:a16="http://schemas.microsoft.com/office/drawing/2014/main" val="2064962225"/>
                  </a:ext>
                </a:extLst>
              </a:tr>
              <a:tr h="373992">
                <a:tc>
                  <a:txBody>
                    <a:bodyPr/>
                    <a:lstStyle/>
                    <a:p>
                      <a:pPr marL="0" marR="0" algn="ctr">
                        <a:lnSpc>
                          <a:spcPct val="115000"/>
                        </a:lnSpc>
                        <a:buNone/>
                      </a:pPr>
                      <a:r>
                        <a:rPr lang="en-US" sz="1300" kern="100">
                          <a:effectLst/>
                        </a:rPr>
                        <a:t>Pruned Tree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buNone/>
                      </a:pPr>
                      <a:r>
                        <a:rPr lang="en-US" sz="1300" kern="100" dirty="0">
                          <a:effectLst/>
                        </a:rPr>
                        <a:t>1911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spcAft>
                          <a:spcPts val="800"/>
                        </a:spcAft>
                        <a:buNone/>
                      </a:pPr>
                      <a:r>
                        <a:rPr lang="en-US" sz="1300" kern="100" dirty="0">
                          <a:effectLst/>
                        </a:rPr>
                        <a:t>96.12%</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extLst>
                  <a:ext uri="{0D108BD9-81ED-4DB2-BD59-A6C34878D82A}">
                    <a16:rowId xmlns:a16="http://schemas.microsoft.com/office/drawing/2014/main" val="926628940"/>
                  </a:ext>
                </a:extLst>
              </a:tr>
            </a:tbl>
          </a:graphicData>
        </a:graphic>
      </p:graphicFrame>
      <p:sp>
        <p:nvSpPr>
          <p:cNvPr id="4" name="TextBox 3">
            <a:extLst>
              <a:ext uri="{FF2B5EF4-FFF2-40B4-BE49-F238E27FC236}">
                <a16:creationId xmlns:a16="http://schemas.microsoft.com/office/drawing/2014/main" id="{FDACDA85-1EAD-BFD3-C13E-71832C2650ED}"/>
              </a:ext>
            </a:extLst>
          </p:cNvPr>
          <p:cNvSpPr txBox="1"/>
          <p:nvPr/>
        </p:nvSpPr>
        <p:spPr>
          <a:xfrm>
            <a:off x="9050140" y="4254571"/>
            <a:ext cx="849528" cy="369332"/>
          </a:xfrm>
          <a:prstGeom prst="rect">
            <a:avLst/>
          </a:prstGeom>
          <a:noFill/>
        </p:spPr>
        <p:txBody>
          <a:bodyPr wrap="none" rtlCol="0">
            <a:spAutoFit/>
          </a:bodyPr>
          <a:lstStyle/>
          <a:p>
            <a:r>
              <a:rPr lang="en-IN" dirty="0"/>
              <a:t>Table 1</a:t>
            </a:r>
          </a:p>
        </p:txBody>
      </p:sp>
    </p:spTree>
    <p:extLst>
      <p:ext uri="{BB962C8B-B14F-4D97-AF65-F5344CB8AC3E}">
        <p14:creationId xmlns:p14="http://schemas.microsoft.com/office/powerpoint/2010/main" val="4245530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DCAC63-30CC-2DC7-2235-B24FEFC46589}"/>
              </a:ext>
            </a:extLst>
          </p:cNvPr>
          <p:cNvSpPr txBox="1"/>
          <p:nvPr/>
        </p:nvSpPr>
        <p:spPr>
          <a:xfrm>
            <a:off x="307910" y="1757064"/>
            <a:ext cx="7156580" cy="3338863"/>
          </a:xfrm>
          <a:prstGeom prst="rect">
            <a:avLst/>
          </a:prstGeom>
          <a:noFill/>
        </p:spPr>
        <p:txBody>
          <a:bodyPr wrap="square" rtlCol="0">
            <a:spAutoFit/>
          </a:bodyPr>
          <a:lstStyle/>
          <a:p>
            <a:pPr marL="457200" marR="0">
              <a:lnSpc>
                <a:spcPct val="115000"/>
              </a:lnSpc>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ECG signal gives the rhythmic contraction and expansions of the heart as electrical signals.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These signals are generally obtained by sampling the body at various specific points and then passing them through an amplifier followed by a band pass filter.</a:t>
            </a:r>
            <a:endParaRPr lang="en-US" sz="3200" dirty="0">
              <a:latin typeface="Times New Roman" panose="02020603050405020304" pitchFamily="18" charset="0"/>
              <a:cs typeface="Times New Roman" panose="02020603050405020304" pitchFamily="18" charset="0"/>
            </a:endParaRPr>
          </a:p>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The major section of an ECG signal is the QRS complex. Generally, beats segmented by taking two consecutive R-peaks.</a:t>
            </a:r>
          </a:p>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We followed a similar procedure in this implementation as explained in the preprocessing section.</a:t>
            </a:r>
          </a:p>
          <a:p>
            <a:endParaRPr lang="en-IN" dirty="0">
              <a:latin typeface="Times New Roman" panose="02020603050405020304" pitchFamily="18" charset="0"/>
              <a:cs typeface="Times New Roman" panose="02020603050405020304" pitchFamily="18" charset="0"/>
            </a:endParaRPr>
          </a:p>
        </p:txBody>
      </p:sp>
      <p:pic>
        <p:nvPicPr>
          <p:cNvPr id="3" name="Picture 2" descr="undefined">
            <a:extLst>
              <a:ext uri="{FF2B5EF4-FFF2-40B4-BE49-F238E27FC236}">
                <a16:creationId xmlns:a16="http://schemas.microsoft.com/office/drawing/2014/main" id="{98EBCC6F-7D9E-9529-FA6C-1217128C5AA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4490" y="1250302"/>
            <a:ext cx="4310743" cy="3890865"/>
          </a:xfrm>
          <a:prstGeom prst="rect">
            <a:avLst/>
          </a:prstGeom>
          <a:noFill/>
          <a:ln>
            <a:noFill/>
          </a:ln>
        </p:spPr>
      </p:pic>
      <p:sp>
        <p:nvSpPr>
          <p:cNvPr id="7" name="TextBox 6">
            <a:extLst>
              <a:ext uri="{FF2B5EF4-FFF2-40B4-BE49-F238E27FC236}">
                <a16:creationId xmlns:a16="http://schemas.microsoft.com/office/drawing/2014/main" id="{EE004792-B1BB-54A7-4BC5-27B61790BFF2}"/>
              </a:ext>
            </a:extLst>
          </p:cNvPr>
          <p:cNvSpPr txBox="1"/>
          <p:nvPr/>
        </p:nvSpPr>
        <p:spPr>
          <a:xfrm>
            <a:off x="757084" y="684856"/>
            <a:ext cx="4493342"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 5.ECG Signal Structure</a:t>
            </a:r>
            <a:endParaRPr lang="en-IN" sz="3200" dirty="0"/>
          </a:p>
        </p:txBody>
      </p:sp>
      <p:sp>
        <p:nvSpPr>
          <p:cNvPr id="4" name="TextBox 3">
            <a:extLst>
              <a:ext uri="{FF2B5EF4-FFF2-40B4-BE49-F238E27FC236}">
                <a16:creationId xmlns:a16="http://schemas.microsoft.com/office/drawing/2014/main" id="{E6669024-35BD-D971-1D0F-494325F1B433}"/>
              </a:ext>
            </a:extLst>
          </p:cNvPr>
          <p:cNvSpPr txBox="1"/>
          <p:nvPr/>
        </p:nvSpPr>
        <p:spPr>
          <a:xfrm>
            <a:off x="9019551" y="4911261"/>
            <a:ext cx="1194751" cy="369332"/>
          </a:xfrm>
          <a:prstGeom prst="rect">
            <a:avLst/>
          </a:prstGeom>
          <a:noFill/>
        </p:spPr>
        <p:txBody>
          <a:bodyPr wrap="none" rtlCol="0">
            <a:spAutoFit/>
          </a:bodyPr>
          <a:lstStyle/>
          <a:p>
            <a:r>
              <a:rPr lang="en-IN" dirty="0"/>
              <a:t>Figure 3[8]</a:t>
            </a:r>
          </a:p>
        </p:txBody>
      </p:sp>
    </p:spTree>
    <p:extLst>
      <p:ext uri="{BB962C8B-B14F-4D97-AF65-F5344CB8AC3E}">
        <p14:creationId xmlns:p14="http://schemas.microsoft.com/office/powerpoint/2010/main" val="3002586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EECDE-0B9D-8DAC-45DC-C63201C8F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54A66E-466C-E0BA-BAC8-65BEA1342A1C}"/>
              </a:ext>
            </a:extLst>
          </p:cNvPr>
          <p:cNvSpPr>
            <a:spLocks noGrp="1"/>
          </p:cNvSpPr>
          <p:nvPr>
            <p:ph type="title"/>
          </p:nvPr>
        </p:nvSpPr>
        <p:spPr>
          <a:xfrm>
            <a:off x="497027" y="335666"/>
            <a:ext cx="5269757" cy="848811"/>
          </a:xfrm>
        </p:spPr>
        <p:txBody>
          <a:bodyPr>
            <a:normAutofit/>
          </a:bodyPr>
          <a:lstStyle/>
          <a:p>
            <a:r>
              <a:rPr lang="en-US" dirty="0">
                <a:latin typeface="Times New Roman" panose="02020603050405020304" pitchFamily="18" charset="0"/>
                <a:cs typeface="Times New Roman" panose="02020603050405020304" pitchFamily="18" charset="0"/>
              </a:rPr>
              <a:t>Implementation &amp; Workflow</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5BD4009E-787F-938C-7BBF-F388983BD523}"/>
              </a:ext>
            </a:extLst>
          </p:cNvPr>
          <p:cNvSpPr>
            <a:spLocks noGrp="1"/>
          </p:cNvSpPr>
          <p:nvPr>
            <p:ph type="body" sz="half" idx="2"/>
          </p:nvPr>
        </p:nvSpPr>
        <p:spPr>
          <a:xfrm>
            <a:off x="219761" y="1402115"/>
            <a:ext cx="6409996" cy="4758612"/>
          </a:xfrm>
        </p:spPr>
        <p:txBody>
          <a:bodyPr>
            <a:normAutofit/>
          </a:bodyPr>
          <a:lstStyle/>
          <a:p>
            <a:r>
              <a:rPr lang="en-US" sz="1000" dirty="0">
                <a:latin typeface="Times New Roman" panose="02020603050405020304" pitchFamily="18" charset="0"/>
                <a:cs typeface="Times New Roman" panose="02020603050405020304" pitchFamily="18" charset="0"/>
              </a:rPr>
              <a:t>The system operates on the below pipeline to classify ECG signals into various types of Arrythmia.</a:t>
            </a:r>
          </a:p>
          <a:p>
            <a:r>
              <a:rPr lang="en-US" sz="1000" dirty="0">
                <a:latin typeface="Times New Roman" panose="02020603050405020304" pitchFamily="18" charset="0"/>
                <a:cs typeface="Times New Roman" panose="02020603050405020304" pitchFamily="18" charset="0"/>
              </a:rPr>
              <a:t>1.Data input</a:t>
            </a:r>
          </a:p>
          <a:p>
            <a:r>
              <a:rPr lang="en-US" sz="1000" dirty="0">
                <a:latin typeface="Times New Roman" panose="02020603050405020304" pitchFamily="18" charset="0"/>
                <a:cs typeface="Times New Roman" panose="02020603050405020304" pitchFamily="18" charset="0"/>
              </a:rPr>
              <a:t>ECG signals are taken using a general ECG sensor which consists of a simple amplifier and pass filter. The analog ECG signal is converted into a digital signal using a 12-bit ADC. This 12 Bit signal is passed to the FPGA board via its PMOD ports.</a:t>
            </a:r>
          </a:p>
          <a:p>
            <a:r>
              <a:rPr lang="en-US" sz="1000" dirty="0">
                <a:latin typeface="Times New Roman" panose="02020603050405020304" pitchFamily="18" charset="0"/>
                <a:cs typeface="Times New Roman" panose="02020603050405020304" pitchFamily="18" charset="0"/>
              </a:rPr>
              <a:t>2.Clock Converter</a:t>
            </a:r>
          </a:p>
          <a:p>
            <a:r>
              <a:rPr lang="en-US" sz="1000" dirty="0">
                <a:latin typeface="Times New Roman" panose="02020603050405020304" pitchFamily="18" charset="0"/>
                <a:cs typeface="Times New Roman" panose="02020603050405020304" pitchFamily="18" charset="0"/>
              </a:rPr>
              <a:t>We need to sample the ECG signal at a fixed pre-defined frequency. In this case, we expect a 125Hz signal .By default, the internal clock of FPGAs is very fast. We utilize a clock converter to downscale the clock from very high speed to 125Hz.</a:t>
            </a:r>
          </a:p>
          <a:p>
            <a:r>
              <a:rPr lang="en-US" sz="1000" dirty="0">
                <a:latin typeface="Times New Roman" panose="02020603050405020304" pitchFamily="18" charset="0"/>
                <a:cs typeface="Times New Roman" panose="02020603050405020304" pitchFamily="18" charset="0"/>
              </a:rPr>
              <a:t>3.Data Queue</a:t>
            </a:r>
          </a:p>
          <a:p>
            <a:r>
              <a:rPr lang="en-US" sz="1000" dirty="0">
                <a:latin typeface="Times New Roman" panose="02020603050405020304" pitchFamily="18" charset="0"/>
                <a:cs typeface="Times New Roman" panose="02020603050405020304" pitchFamily="18" charset="0"/>
              </a:rPr>
              <a:t>At each clock edge of the now generated slower clock, we sample the PMOD ports to get an ECG signal sample. We save this data sample into a data queue made using shift registers. In this way we get the required live data.  </a:t>
            </a:r>
          </a:p>
          <a:p>
            <a:r>
              <a:rPr lang="en-US" sz="1000" dirty="0">
                <a:latin typeface="Times New Roman" panose="02020603050405020304" pitchFamily="18" charset="0"/>
                <a:cs typeface="Times New Roman" panose="02020603050405020304" pitchFamily="18" charset="0"/>
              </a:rPr>
              <a:t>4.ECG Preprocessing</a:t>
            </a:r>
          </a:p>
          <a:p>
            <a:r>
              <a:rPr lang="en-US" sz="1000" dirty="0">
                <a:latin typeface="Times New Roman" panose="02020603050405020304" pitchFamily="18" charset="0"/>
                <a:cs typeface="Times New Roman" panose="02020603050405020304" pitchFamily="18" charset="0"/>
              </a:rPr>
              <a:t>The now acquired live data is preprocessed using various transformation techniques. Finally, the data is preprocessed in the pre-defined manner and sent to the classifier.</a:t>
            </a:r>
          </a:p>
          <a:p>
            <a:r>
              <a:rPr lang="en-US" sz="1000" dirty="0">
                <a:latin typeface="Times New Roman" panose="02020603050405020304" pitchFamily="18" charset="0"/>
                <a:cs typeface="Times New Roman" panose="02020603050405020304" pitchFamily="18" charset="0"/>
              </a:rPr>
              <a:t>5.Decision Tree based classification</a:t>
            </a:r>
          </a:p>
          <a:p>
            <a:r>
              <a:rPr lang="en-US" sz="1000" dirty="0">
                <a:latin typeface="Times New Roman" panose="02020603050405020304" pitchFamily="18" charset="0"/>
                <a:cs typeface="Times New Roman" panose="02020603050405020304" pitchFamily="18" charset="0"/>
              </a:rPr>
              <a:t>A hardware &amp; time optimized decision tree is utilized to classify the preprocessed signal into the possible heart condition.</a:t>
            </a:r>
          </a:p>
          <a:p>
            <a:r>
              <a:rPr lang="en-US" sz="1000" dirty="0">
                <a:latin typeface="Times New Roman" panose="02020603050405020304" pitchFamily="18" charset="0"/>
                <a:cs typeface="Times New Roman" panose="02020603050405020304" pitchFamily="18" charset="0"/>
              </a:rPr>
              <a:t>6.Output display</a:t>
            </a:r>
          </a:p>
          <a:p>
            <a:r>
              <a:rPr lang="en-US" sz="1000" dirty="0">
                <a:latin typeface="Times New Roman" panose="02020603050405020304" pitchFamily="18" charset="0"/>
                <a:cs typeface="Times New Roman" panose="02020603050405020304" pitchFamily="18" charset="0"/>
              </a:rPr>
              <a:t>After acquiring the classified output, the seven-segment module is utilized to display the classified output on the seven-segment display for easier visualization.</a:t>
            </a:r>
          </a:p>
          <a:p>
            <a:endParaRPr lang="en-IN" sz="10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90B1EB96-72FC-4402-02CB-9DC451C75B1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522099" y="2244393"/>
            <a:ext cx="5622464" cy="3074056"/>
          </a:xfrm>
          <a:prstGeom prst="rect">
            <a:avLst/>
          </a:prstGeom>
        </p:spPr>
      </p:pic>
      <p:sp>
        <p:nvSpPr>
          <p:cNvPr id="3" name="TextBox 2">
            <a:extLst>
              <a:ext uri="{FF2B5EF4-FFF2-40B4-BE49-F238E27FC236}">
                <a16:creationId xmlns:a16="http://schemas.microsoft.com/office/drawing/2014/main" id="{1F3A0D6F-5224-3388-83C9-CE6BFE495ABB}"/>
              </a:ext>
            </a:extLst>
          </p:cNvPr>
          <p:cNvSpPr txBox="1"/>
          <p:nvPr/>
        </p:nvSpPr>
        <p:spPr>
          <a:xfrm>
            <a:off x="8864997" y="5133783"/>
            <a:ext cx="936667" cy="369332"/>
          </a:xfrm>
          <a:prstGeom prst="rect">
            <a:avLst/>
          </a:prstGeom>
          <a:noFill/>
        </p:spPr>
        <p:txBody>
          <a:bodyPr wrap="none" rtlCol="0">
            <a:spAutoFit/>
          </a:bodyPr>
          <a:lstStyle/>
          <a:p>
            <a:r>
              <a:rPr lang="en-IN" dirty="0"/>
              <a:t>Figure 4</a:t>
            </a:r>
          </a:p>
        </p:txBody>
      </p:sp>
    </p:spTree>
    <p:extLst>
      <p:ext uri="{BB962C8B-B14F-4D97-AF65-F5344CB8AC3E}">
        <p14:creationId xmlns:p14="http://schemas.microsoft.com/office/powerpoint/2010/main" val="2576494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1ED47E-F03B-C68C-B061-0A353C2CBA43}"/>
              </a:ext>
            </a:extLst>
          </p:cNvPr>
          <p:cNvSpPr>
            <a:spLocks noGrp="1"/>
          </p:cNvSpPr>
          <p:nvPr>
            <p:ph type="title"/>
          </p:nvPr>
        </p:nvSpPr>
        <p:spPr>
          <a:xfrm>
            <a:off x="831850" y="1709738"/>
            <a:ext cx="10515600" cy="1623397"/>
          </a:xfrm>
        </p:spPr>
        <p:txBody>
          <a:bodyPr/>
          <a:lstStyle/>
          <a:p>
            <a:pPr algn="ctr"/>
            <a:r>
              <a:rPr lang="en-US" dirty="0"/>
              <a:t>Code</a:t>
            </a:r>
            <a:endParaRPr lang="en-IN" dirty="0"/>
          </a:p>
        </p:txBody>
      </p:sp>
      <p:sp>
        <p:nvSpPr>
          <p:cNvPr id="6" name="Text Placeholder 5">
            <a:extLst>
              <a:ext uri="{FF2B5EF4-FFF2-40B4-BE49-F238E27FC236}">
                <a16:creationId xmlns:a16="http://schemas.microsoft.com/office/drawing/2014/main" id="{0E1E9DCD-8A0B-5283-87EC-5063980DB28E}"/>
              </a:ext>
            </a:extLst>
          </p:cNvPr>
          <p:cNvSpPr>
            <a:spLocks noGrp="1"/>
          </p:cNvSpPr>
          <p:nvPr>
            <p:ph type="body" idx="1"/>
          </p:nvPr>
        </p:nvSpPr>
        <p:spPr/>
        <p:txBody>
          <a:bodyPr/>
          <a:lstStyle/>
          <a:p>
            <a:r>
              <a:rPr lang="en-US" dirty="0"/>
              <a:t>(refer to pdf file/word file for code)</a:t>
            </a:r>
            <a:endParaRPr lang="en-IN" dirty="0"/>
          </a:p>
          <a:p>
            <a:r>
              <a:rPr lang="en-IN" dirty="0"/>
              <a:t>(code too big to fit in PPT)</a:t>
            </a:r>
          </a:p>
        </p:txBody>
      </p:sp>
    </p:spTree>
    <p:extLst>
      <p:ext uri="{BB962C8B-B14F-4D97-AF65-F5344CB8AC3E}">
        <p14:creationId xmlns:p14="http://schemas.microsoft.com/office/powerpoint/2010/main" val="1419408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752AA-3FF9-8769-27B6-F5A6E147C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6C447-8DCF-4003-A6C3-97980E167C1E}"/>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Results and Conclusion</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D1CBC8B0-8643-2E8C-057E-83D1164D76F7}"/>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Classification results</a:t>
            </a:r>
          </a:p>
          <a:p>
            <a:r>
              <a:rPr lang="en-US" sz="2000" dirty="0">
                <a:latin typeface="Times New Roman" panose="02020603050405020304" pitchFamily="18" charset="0"/>
                <a:cs typeface="Times New Roman" panose="02020603050405020304" pitchFamily="18" charset="0"/>
              </a:rPr>
              <a:t>Utilization results</a:t>
            </a:r>
          </a:p>
          <a:p>
            <a:r>
              <a:rPr lang="en-IN" sz="2000" dirty="0">
                <a:latin typeface="Times New Roman" panose="02020603050405020304" pitchFamily="18" charset="0"/>
                <a:cs typeface="Times New Roman" panose="02020603050405020304" pitchFamily="18" charset="0"/>
              </a:rPr>
              <a:t>Processing time results</a:t>
            </a:r>
          </a:p>
        </p:txBody>
      </p:sp>
    </p:spTree>
    <p:extLst>
      <p:ext uri="{BB962C8B-B14F-4D97-AF65-F5344CB8AC3E}">
        <p14:creationId xmlns:p14="http://schemas.microsoft.com/office/powerpoint/2010/main" val="2953527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A9D66-F851-632D-52FB-1E312F594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1CA63-2F61-88F4-EBB7-E8CD93051033}"/>
              </a:ext>
            </a:extLst>
          </p:cNvPr>
          <p:cNvSpPr>
            <a:spLocks noGrp="1"/>
          </p:cNvSpPr>
          <p:nvPr>
            <p:ph type="title"/>
          </p:nvPr>
        </p:nvSpPr>
        <p:spPr>
          <a:xfrm>
            <a:off x="826243" y="216310"/>
            <a:ext cx="4915796" cy="1022555"/>
          </a:xfrm>
        </p:spPr>
        <p:txBody>
          <a:bodyPr>
            <a:normAutofit/>
          </a:bodyPr>
          <a:lstStyle/>
          <a:p>
            <a:r>
              <a:rPr lang="en-US" sz="3200" dirty="0">
                <a:latin typeface="Times New Roman" panose="02020603050405020304" pitchFamily="18" charset="0"/>
                <a:cs typeface="Times New Roman" panose="02020603050405020304" pitchFamily="18" charset="0"/>
              </a:rPr>
              <a:t>Classification results</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D5410178-4E33-6A69-DFC0-45AE75DFCCE9}"/>
              </a:ext>
            </a:extLst>
          </p:cNvPr>
          <p:cNvSpPr>
            <a:spLocks noGrp="1"/>
          </p:cNvSpPr>
          <p:nvPr>
            <p:ph type="body" sz="half" idx="2"/>
          </p:nvPr>
        </p:nvSpPr>
        <p:spPr>
          <a:xfrm>
            <a:off x="112103" y="1539551"/>
            <a:ext cx="6409996" cy="4758612"/>
          </a:xfrm>
        </p:spPr>
        <p:txBody>
          <a:bodyPr>
            <a:normAutofit/>
          </a:bodyPr>
          <a:lstStyle/>
          <a:p>
            <a:pPr marL="457200">
              <a:lnSpc>
                <a:spcPct val="115000"/>
              </a:lnSpc>
              <a:buNone/>
            </a:pPr>
            <a:r>
              <a:rPr lang="en-US" sz="1800" dirty="0">
                <a:latin typeface="Times New Roman" panose="02020603050405020304" pitchFamily="18" charset="0"/>
                <a:cs typeface="Times New Roman" panose="02020603050405020304" pitchFamily="18" charset="0"/>
              </a:rPr>
              <a:t>Below table shows the accuracy and classification type of various studies.</a:t>
            </a:r>
          </a:p>
          <a:p>
            <a:pPr marL="457200">
              <a:lnSpc>
                <a:spcPct val="115000"/>
              </a:lnSpc>
              <a:buNone/>
            </a:pPr>
            <a:r>
              <a:rPr lang="en-US" sz="1800" dirty="0">
                <a:latin typeface="Times New Roman" panose="02020603050405020304" pitchFamily="18" charset="0"/>
                <a:cs typeface="Times New Roman" panose="02020603050405020304" pitchFamily="18" charset="0"/>
              </a:rPr>
              <a:t>Though at first sight the proposed work may not seem much different in terms of accuracy, the classification type of the proposed work is multi-class of five classes whereas the previous works focused on binary classification.</a:t>
            </a:r>
          </a:p>
          <a:p>
            <a:pPr marL="457200">
              <a:lnSpc>
                <a:spcPct val="115000"/>
              </a:lnSpc>
              <a:buNone/>
            </a:pPr>
            <a:r>
              <a:rPr lang="en-US" sz="1800" dirty="0">
                <a:latin typeface="Times New Roman" panose="02020603050405020304" pitchFamily="18" charset="0"/>
                <a:cs typeface="Times New Roman" panose="02020603050405020304" pitchFamily="18" charset="0"/>
              </a:rPr>
              <a:t>Additionally, the amount of preprocessing involved in the previous works is extremely high. This leads to requiring an extreme amount of hardware along with slow processing times.</a:t>
            </a:r>
            <a:endParaRPr lang="en-IN" sz="18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DEC11F8C-F4FE-3BC2-A430-1B0543D043F2}"/>
              </a:ext>
            </a:extLst>
          </p:cNvPr>
          <p:cNvGraphicFramePr>
            <a:graphicFrameLocks noGrp="1"/>
          </p:cNvGraphicFramePr>
          <p:nvPr>
            <p:ph idx="1"/>
          </p:nvPr>
        </p:nvGraphicFramePr>
        <p:xfrm>
          <a:off x="6522099" y="2187415"/>
          <a:ext cx="5059681" cy="2483170"/>
        </p:xfrm>
        <a:graphic>
          <a:graphicData uri="http://schemas.openxmlformats.org/drawingml/2006/table">
            <a:tbl>
              <a:tblPr firstRow="1" firstCol="1" bandRow="1">
                <a:tableStyleId>{5C22544A-7EE6-4342-B048-85BDC9FD1C3A}</a:tableStyleId>
              </a:tblPr>
              <a:tblGrid>
                <a:gridCol w="1095070">
                  <a:extLst>
                    <a:ext uri="{9D8B030D-6E8A-4147-A177-3AD203B41FA5}">
                      <a16:colId xmlns:a16="http://schemas.microsoft.com/office/drawing/2014/main" val="2913070838"/>
                    </a:ext>
                  </a:extLst>
                </a:gridCol>
                <a:gridCol w="988358">
                  <a:extLst>
                    <a:ext uri="{9D8B030D-6E8A-4147-A177-3AD203B41FA5}">
                      <a16:colId xmlns:a16="http://schemas.microsoft.com/office/drawing/2014/main" val="4185446359"/>
                    </a:ext>
                  </a:extLst>
                </a:gridCol>
                <a:gridCol w="942116">
                  <a:extLst>
                    <a:ext uri="{9D8B030D-6E8A-4147-A177-3AD203B41FA5}">
                      <a16:colId xmlns:a16="http://schemas.microsoft.com/office/drawing/2014/main" val="1279621424"/>
                    </a:ext>
                  </a:extLst>
                </a:gridCol>
                <a:gridCol w="1170785">
                  <a:extLst>
                    <a:ext uri="{9D8B030D-6E8A-4147-A177-3AD203B41FA5}">
                      <a16:colId xmlns:a16="http://schemas.microsoft.com/office/drawing/2014/main" val="2579211521"/>
                    </a:ext>
                  </a:extLst>
                </a:gridCol>
                <a:gridCol w="863352">
                  <a:extLst>
                    <a:ext uri="{9D8B030D-6E8A-4147-A177-3AD203B41FA5}">
                      <a16:colId xmlns:a16="http://schemas.microsoft.com/office/drawing/2014/main" val="3293040301"/>
                    </a:ext>
                  </a:extLst>
                </a:gridCol>
              </a:tblGrid>
              <a:tr h="417195">
                <a:tc>
                  <a:txBody>
                    <a:bodyPr/>
                    <a:lstStyle/>
                    <a:p>
                      <a:pPr marL="0" marR="0" algn="ctr">
                        <a:lnSpc>
                          <a:spcPct val="115000"/>
                        </a:lnSpc>
                        <a:spcAft>
                          <a:spcPts val="800"/>
                        </a:spcAft>
                        <a:buNone/>
                      </a:pPr>
                      <a:r>
                        <a:rPr lang="en-US" sz="1400" kern="100">
                          <a:effectLst/>
                        </a:rPr>
                        <a:t>Reference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Platform</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Model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Classification Type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Accuracy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9793157"/>
                  </a:ext>
                </a:extLst>
              </a:tr>
              <a:tr h="423545">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IN" sz="1400" kern="100">
                          <a:effectLst/>
                        </a:rPr>
                        <a:t>Xilinx Pynq-Z1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MLP</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Binary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94.20%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11025143"/>
                  </a:ext>
                </a:extLst>
              </a:tr>
              <a:tr h="417195">
                <a:tc>
                  <a:txBody>
                    <a:bodyPr/>
                    <a:lstStyle/>
                    <a:p>
                      <a:pPr marL="0" marR="0" algn="ctr">
                        <a:lnSpc>
                          <a:spcPct val="115000"/>
                        </a:lnSpc>
                        <a:spcAft>
                          <a:spcPts val="800"/>
                        </a:spcAft>
                        <a:buNone/>
                      </a:pPr>
                      <a:r>
                        <a:rPr lang="en-US" sz="1400" kern="10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Intel I7-8550U</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AFEntropy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Binary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94.80%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7836995"/>
                  </a:ext>
                </a:extLst>
              </a:tr>
              <a:tr h="208280">
                <a:tc>
                  <a:txBody>
                    <a:bodyPr/>
                    <a:lstStyle/>
                    <a:p>
                      <a:pPr marL="0" marR="0" algn="ctr">
                        <a:lnSpc>
                          <a:spcPct val="115000"/>
                        </a:lnSpc>
                        <a:spcAft>
                          <a:spcPts val="800"/>
                        </a:spcAft>
                        <a:buNone/>
                      </a:pPr>
                      <a:r>
                        <a:rPr lang="en-US" sz="1400" kern="10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Intel I9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CS-CNN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Binary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96.25%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75468997"/>
                  </a:ext>
                </a:extLst>
              </a:tr>
              <a:tr h="632460">
                <a:tc>
                  <a:txBody>
                    <a:bodyPr/>
                    <a:lstStyle/>
                    <a:p>
                      <a:pPr marL="0" marR="0" algn="ctr">
                        <a:lnSpc>
                          <a:spcPct val="115000"/>
                        </a:lnSpc>
                        <a:spcAft>
                          <a:spcPts val="800"/>
                        </a:spcAft>
                        <a:buNone/>
                      </a:pPr>
                      <a:r>
                        <a:rPr lang="en-US" sz="1400" kern="100">
                          <a:effectLst/>
                        </a:rPr>
                        <a:t>Proposed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Artix-7</a:t>
                      </a:r>
                      <a:endParaRPr lang="en-IN" sz="1200" kern="100">
                        <a:effectLst/>
                      </a:endParaRPr>
                    </a:p>
                    <a:p>
                      <a:pPr marL="0" marR="0">
                        <a:lnSpc>
                          <a:spcPct val="115000"/>
                        </a:lnSpc>
                        <a:spcAft>
                          <a:spcPts val="800"/>
                        </a:spcAft>
                        <a:buNone/>
                      </a:pPr>
                      <a:r>
                        <a:rPr lang="en-US" sz="1400" kern="100">
                          <a:effectLst/>
                        </a:rPr>
                        <a:t>Nexys DDR4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Pruned decision Tree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Multi-Class </a:t>
                      </a:r>
                      <a:endParaRPr lang="en-IN" sz="1200" kern="100">
                        <a:effectLst/>
                      </a:endParaRPr>
                    </a:p>
                    <a:p>
                      <a:pPr marL="0" marR="0">
                        <a:lnSpc>
                          <a:spcPct val="115000"/>
                        </a:lnSpc>
                        <a:spcAft>
                          <a:spcPts val="800"/>
                        </a:spcAft>
                        <a:buNone/>
                      </a:pPr>
                      <a:r>
                        <a:rPr lang="en-US" sz="1400" kern="100">
                          <a:effectLst/>
                        </a:rPr>
                        <a:t>(Five classes)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IN" sz="1400" kern="100" dirty="0">
                          <a:effectLst/>
                        </a:rPr>
                        <a:t>96.12%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5774311"/>
                  </a:ext>
                </a:extLst>
              </a:tr>
            </a:tbl>
          </a:graphicData>
        </a:graphic>
      </p:graphicFrame>
      <p:sp>
        <p:nvSpPr>
          <p:cNvPr id="3" name="TextBox 2">
            <a:extLst>
              <a:ext uri="{FF2B5EF4-FFF2-40B4-BE49-F238E27FC236}">
                <a16:creationId xmlns:a16="http://schemas.microsoft.com/office/drawing/2014/main" id="{45B2D316-D7E0-ED88-4856-54DF18E4DADD}"/>
              </a:ext>
            </a:extLst>
          </p:cNvPr>
          <p:cNvSpPr txBox="1"/>
          <p:nvPr/>
        </p:nvSpPr>
        <p:spPr>
          <a:xfrm>
            <a:off x="8627175" y="4670585"/>
            <a:ext cx="849528" cy="369332"/>
          </a:xfrm>
          <a:prstGeom prst="rect">
            <a:avLst/>
          </a:prstGeom>
          <a:noFill/>
        </p:spPr>
        <p:txBody>
          <a:bodyPr wrap="none" rtlCol="0">
            <a:spAutoFit/>
          </a:bodyPr>
          <a:lstStyle/>
          <a:p>
            <a:r>
              <a:rPr lang="en-IN" dirty="0"/>
              <a:t>Table 2</a:t>
            </a:r>
          </a:p>
        </p:txBody>
      </p:sp>
    </p:spTree>
    <p:extLst>
      <p:ext uri="{BB962C8B-B14F-4D97-AF65-F5344CB8AC3E}">
        <p14:creationId xmlns:p14="http://schemas.microsoft.com/office/powerpoint/2010/main" val="2404159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9766DD-008C-20F2-96DB-D4F46D41B0BA}"/>
              </a:ext>
            </a:extLst>
          </p:cNvPr>
          <p:cNvSpPr>
            <a:spLocks noGrp="1"/>
          </p:cNvSpPr>
          <p:nvPr>
            <p:ph type="title"/>
          </p:nvPr>
        </p:nvSpPr>
        <p:spPr>
          <a:xfrm>
            <a:off x="839787" y="530942"/>
            <a:ext cx="3932237" cy="769374"/>
          </a:xfrm>
        </p:spPr>
        <p:txBody>
          <a:bodyPr/>
          <a:lstStyle/>
          <a:p>
            <a:r>
              <a:rPr lang="en-US" sz="3200" dirty="0">
                <a:latin typeface="Times New Roman" panose="02020603050405020304" pitchFamily="18" charset="0"/>
                <a:cs typeface="Times New Roman" panose="02020603050405020304" pitchFamily="18" charset="0"/>
              </a:rPr>
              <a:t>Utilization results</a:t>
            </a:r>
          </a:p>
        </p:txBody>
      </p:sp>
      <p:graphicFrame>
        <p:nvGraphicFramePr>
          <p:cNvPr id="5" name="Content Placeholder 4">
            <a:extLst>
              <a:ext uri="{FF2B5EF4-FFF2-40B4-BE49-F238E27FC236}">
                <a16:creationId xmlns:a16="http://schemas.microsoft.com/office/drawing/2014/main" id="{3922D769-A4A7-1FE0-D816-1B790517C893}"/>
              </a:ext>
            </a:extLst>
          </p:cNvPr>
          <p:cNvGraphicFramePr>
            <a:graphicFrameLocks noGrp="1"/>
          </p:cNvGraphicFramePr>
          <p:nvPr>
            <p:ph idx="1"/>
            <p:extLst>
              <p:ext uri="{D42A27DB-BD31-4B8C-83A1-F6EECF244321}">
                <p14:modId xmlns:p14="http://schemas.microsoft.com/office/powerpoint/2010/main" val="471190813"/>
              </p:ext>
            </p:extLst>
          </p:nvPr>
        </p:nvGraphicFramePr>
        <p:xfrm>
          <a:off x="5623026" y="1884456"/>
          <a:ext cx="6172196" cy="4157476"/>
        </p:xfrm>
        <a:graphic>
          <a:graphicData uri="http://schemas.openxmlformats.org/drawingml/2006/table">
            <a:tbl>
              <a:tblPr firstRow="1" firstCol="1" bandRow="1">
                <a:tableStyleId>{5C22544A-7EE6-4342-B048-85BDC9FD1C3A}</a:tableStyleId>
              </a:tblPr>
              <a:tblGrid>
                <a:gridCol w="1028928">
                  <a:extLst>
                    <a:ext uri="{9D8B030D-6E8A-4147-A177-3AD203B41FA5}">
                      <a16:colId xmlns:a16="http://schemas.microsoft.com/office/drawing/2014/main" val="102056596"/>
                    </a:ext>
                  </a:extLst>
                </a:gridCol>
                <a:gridCol w="1287700">
                  <a:extLst>
                    <a:ext uri="{9D8B030D-6E8A-4147-A177-3AD203B41FA5}">
                      <a16:colId xmlns:a16="http://schemas.microsoft.com/office/drawing/2014/main" val="1098708799"/>
                    </a:ext>
                  </a:extLst>
                </a:gridCol>
                <a:gridCol w="1184328">
                  <a:extLst>
                    <a:ext uri="{9D8B030D-6E8A-4147-A177-3AD203B41FA5}">
                      <a16:colId xmlns:a16="http://schemas.microsoft.com/office/drawing/2014/main" val="282020522"/>
                    </a:ext>
                  </a:extLst>
                </a:gridCol>
                <a:gridCol w="753041">
                  <a:extLst>
                    <a:ext uri="{9D8B030D-6E8A-4147-A177-3AD203B41FA5}">
                      <a16:colId xmlns:a16="http://schemas.microsoft.com/office/drawing/2014/main" val="3516603083"/>
                    </a:ext>
                  </a:extLst>
                </a:gridCol>
                <a:gridCol w="568203">
                  <a:extLst>
                    <a:ext uri="{9D8B030D-6E8A-4147-A177-3AD203B41FA5}">
                      <a16:colId xmlns:a16="http://schemas.microsoft.com/office/drawing/2014/main" val="3373335647"/>
                    </a:ext>
                  </a:extLst>
                </a:gridCol>
                <a:gridCol w="627077">
                  <a:extLst>
                    <a:ext uri="{9D8B030D-6E8A-4147-A177-3AD203B41FA5}">
                      <a16:colId xmlns:a16="http://schemas.microsoft.com/office/drawing/2014/main" val="1391315690"/>
                    </a:ext>
                  </a:extLst>
                </a:gridCol>
                <a:gridCol w="722919">
                  <a:extLst>
                    <a:ext uri="{9D8B030D-6E8A-4147-A177-3AD203B41FA5}">
                      <a16:colId xmlns:a16="http://schemas.microsoft.com/office/drawing/2014/main" val="470801246"/>
                    </a:ext>
                  </a:extLst>
                </a:gridCol>
              </a:tblGrid>
              <a:tr h="0">
                <a:tc>
                  <a:txBody>
                    <a:bodyPr/>
                    <a:lstStyle/>
                    <a:p>
                      <a:pPr marL="0" marR="0" algn="ctr">
                        <a:lnSpc>
                          <a:spcPct val="115000"/>
                        </a:lnSpc>
                        <a:spcAft>
                          <a:spcPts val="800"/>
                        </a:spcAft>
                        <a:buNone/>
                      </a:pPr>
                      <a:r>
                        <a:rPr lang="en-US" sz="1400" kern="100">
                          <a:effectLst/>
                        </a:rPr>
                        <a:t>Reference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Model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Architecture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BRAM</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DSP</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FF</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LUT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22831803"/>
                  </a:ext>
                </a:extLst>
              </a:tr>
              <a:tr h="0">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3 Layer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L1U, L2U</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6271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15136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8099637"/>
                  </a:ext>
                </a:extLst>
              </a:tr>
              <a:tr h="0">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5 Layer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L1U, L2U</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7473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24714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6438406"/>
                  </a:ext>
                </a:extLst>
              </a:tr>
              <a:tr h="0">
                <a:tc>
                  <a:txBody>
                    <a:bodyPr/>
                    <a:lstStyle/>
                    <a:p>
                      <a:pPr marL="0" marR="0" algn="ctr">
                        <a:lnSpc>
                          <a:spcPct val="115000"/>
                        </a:lnSpc>
                        <a:spcAft>
                          <a:spcPts val="800"/>
                        </a:spcAft>
                        <a:buNone/>
                      </a:pPr>
                      <a:r>
                        <a:rPr lang="en-US" sz="1400" kern="100">
                          <a:effectLst/>
                        </a:rPr>
                        <a:t>[4]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Saric</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L1U, L2U</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6698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18556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3024540"/>
                  </a:ext>
                </a:extLst>
              </a:tr>
              <a:tr h="0">
                <a:tc>
                  <a:txBody>
                    <a:bodyPr/>
                    <a:lstStyle/>
                    <a:p>
                      <a:pPr marL="0" marR="0" algn="ctr">
                        <a:lnSpc>
                          <a:spcPct val="115000"/>
                        </a:lnSpc>
                        <a:spcAft>
                          <a:spcPts val="800"/>
                        </a:spcAft>
                        <a:buNone/>
                      </a:pPr>
                      <a:r>
                        <a:rPr lang="en-US" sz="1400" kern="100">
                          <a:effectLst/>
                        </a:rPr>
                        <a:t>[5]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Borghi</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L1U, L2U</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19454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93682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3233383"/>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Pruned Decision Tree</a:t>
                      </a:r>
                      <a:br>
                        <a:rPr lang="en-US" sz="1400" kern="100">
                          <a:effectLst/>
                        </a:rPr>
                      </a:br>
                      <a:r>
                        <a:rPr lang="en-US" sz="1400" kern="100">
                          <a:effectLst/>
                        </a:rPr>
                        <a:t>(No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rPr>
                        <a:t>Not applicable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IN" sz="1400" kern="100">
                          <a:effectLst/>
                        </a:rPr>
                        <a:t>684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46280558"/>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Pruned Decision Tree</a:t>
                      </a:r>
                      <a:br>
                        <a:rPr lang="en-US" sz="1400" kern="100">
                          <a:effectLst/>
                        </a:rPr>
                      </a:br>
                      <a:r>
                        <a:rPr lang="en-US" sz="1400" kern="100">
                          <a:effectLst/>
                        </a:rPr>
                        <a:t>(Serial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Not applicable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12978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24052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5997516"/>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 Decision Tree</a:t>
                      </a:r>
                      <a:endParaRPr lang="en-IN" sz="1200" kern="100">
                        <a:effectLst/>
                      </a:endParaRPr>
                    </a:p>
                    <a:p>
                      <a:pPr marL="0" marR="0" algn="ctr">
                        <a:lnSpc>
                          <a:spcPct val="115000"/>
                        </a:lnSpc>
                        <a:spcAft>
                          <a:spcPts val="800"/>
                        </a:spcAft>
                        <a:buNone/>
                      </a:pPr>
                      <a:r>
                        <a:rPr lang="en-US" sz="1400" kern="100">
                          <a:effectLst/>
                        </a:rPr>
                        <a:t>(Parallel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Not applicable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endParaRPr>
                    </a:p>
                    <a:p>
                      <a:pPr marL="0" marR="0">
                        <a:lnSpc>
                          <a:spcPct val="115000"/>
                        </a:lnSpc>
                        <a:spcAft>
                          <a:spcPts val="800"/>
                        </a:spcAft>
                        <a:buNone/>
                      </a:pPr>
                      <a:r>
                        <a:rPr lang="en-US" sz="1400" kern="100">
                          <a:effectLst/>
                        </a:rPr>
                        <a:t>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3900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rPr>
                        <a:t>127945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20845385"/>
                  </a:ext>
                </a:extLst>
              </a:tr>
            </a:tbl>
          </a:graphicData>
        </a:graphic>
      </p:graphicFrame>
      <p:sp>
        <p:nvSpPr>
          <p:cNvPr id="7" name="Text Placeholder 6">
            <a:extLst>
              <a:ext uri="{FF2B5EF4-FFF2-40B4-BE49-F238E27FC236}">
                <a16:creationId xmlns:a16="http://schemas.microsoft.com/office/drawing/2014/main" id="{36FA578E-EFBA-23B4-D202-A639095AA41F}"/>
              </a:ext>
            </a:extLst>
          </p:cNvPr>
          <p:cNvSpPr>
            <a:spLocks noGrp="1"/>
          </p:cNvSpPr>
          <p:nvPr>
            <p:ph type="body" sz="half" idx="2"/>
          </p:nvPr>
        </p:nvSpPr>
        <p:spPr>
          <a:xfrm>
            <a:off x="599768" y="1428134"/>
            <a:ext cx="4817806" cy="4898923"/>
          </a:xfrm>
        </p:spPr>
        <p:txBody>
          <a:bodyPr>
            <a:noAutofit/>
          </a:bodyPr>
          <a:lstStyle/>
          <a:p>
            <a:r>
              <a:rPr lang="en-US" dirty="0">
                <a:latin typeface="Times New Roman" panose="02020603050405020304" pitchFamily="18" charset="0"/>
                <a:cs typeface="Times New Roman" panose="02020603050405020304" pitchFamily="18" charset="0"/>
              </a:rPr>
              <a:t>The given table shows the hardware utilization of some previous works.</a:t>
            </a:r>
          </a:p>
          <a:p>
            <a:r>
              <a:rPr lang="en-US" dirty="0">
                <a:latin typeface="Times New Roman" panose="02020603050405020304" pitchFamily="18" charset="0"/>
                <a:cs typeface="Times New Roman" panose="02020603050405020304" pitchFamily="18" charset="0"/>
              </a:rPr>
              <a:t>Here we can see that even after preprocessing the input signal, the hardware utilization of the entire design is much lower than the previous works (Which assumed the signal to be preprocessed externally). </a:t>
            </a:r>
          </a:p>
          <a:p>
            <a:r>
              <a:rPr lang="en-US" dirty="0">
                <a:latin typeface="Times New Roman" panose="02020603050405020304" pitchFamily="18" charset="0"/>
                <a:cs typeface="Times New Roman" panose="02020603050405020304" pitchFamily="18" charset="0"/>
              </a:rPr>
              <a:t>This is a massive gain in the results considering the computation costs of the preprocessing steps that were required for these models especially to calculate the entropy-based features.</a:t>
            </a:r>
          </a:p>
          <a:p>
            <a:r>
              <a:rPr lang="en-US" dirty="0">
                <a:latin typeface="Times New Roman" panose="02020603050405020304" pitchFamily="18" charset="0"/>
                <a:cs typeface="Times New Roman" panose="02020603050405020304" pitchFamily="18" charset="0"/>
              </a:rPr>
              <a:t>The high resource utilization in the previous works can be accredited to the high resource consumption of floating-point multiplications that are required for multi-layer perceptrons,</a:t>
            </a:r>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C01EB81-3315-038B-FDD9-EFDF23AE5ABE}"/>
              </a:ext>
            </a:extLst>
          </p:cNvPr>
          <p:cNvSpPr txBox="1"/>
          <p:nvPr/>
        </p:nvSpPr>
        <p:spPr>
          <a:xfrm>
            <a:off x="8284360" y="6142391"/>
            <a:ext cx="849528" cy="369332"/>
          </a:xfrm>
          <a:prstGeom prst="rect">
            <a:avLst/>
          </a:prstGeom>
          <a:noFill/>
        </p:spPr>
        <p:txBody>
          <a:bodyPr wrap="none" rtlCol="0">
            <a:spAutoFit/>
          </a:bodyPr>
          <a:lstStyle/>
          <a:p>
            <a:r>
              <a:rPr lang="en-IN" dirty="0"/>
              <a:t>Table 3</a:t>
            </a:r>
          </a:p>
        </p:txBody>
      </p:sp>
    </p:spTree>
    <p:extLst>
      <p:ext uri="{BB962C8B-B14F-4D97-AF65-F5344CB8AC3E}">
        <p14:creationId xmlns:p14="http://schemas.microsoft.com/office/powerpoint/2010/main" val="3933682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920A9-748A-760B-3A68-BDD049DC80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0005CD-DCB0-A127-3FFC-ED10752170C5}"/>
              </a:ext>
            </a:extLst>
          </p:cNvPr>
          <p:cNvSpPr>
            <a:spLocks noGrp="1"/>
          </p:cNvSpPr>
          <p:nvPr>
            <p:ph type="title"/>
          </p:nvPr>
        </p:nvSpPr>
        <p:spPr>
          <a:xfrm>
            <a:off x="761130" y="570270"/>
            <a:ext cx="4086173" cy="1172497"/>
          </a:xfrm>
        </p:spPr>
        <p:txBody>
          <a:bodyPr/>
          <a:lstStyle/>
          <a:p>
            <a:r>
              <a:rPr lang="en-US" dirty="0">
                <a:latin typeface="Times New Roman" panose="02020603050405020304" pitchFamily="18" charset="0"/>
                <a:cs typeface="Times New Roman" panose="02020603050405020304" pitchFamily="18" charset="0"/>
              </a:rPr>
              <a:t>Processing Time Results</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6352ACDE-2397-5540-EB5F-E45559B05722}"/>
              </a:ext>
            </a:extLst>
          </p:cNvPr>
          <p:cNvSpPr>
            <a:spLocks noGrp="1"/>
          </p:cNvSpPr>
          <p:nvPr>
            <p:ph type="body" sz="half" idx="2"/>
          </p:nvPr>
        </p:nvSpPr>
        <p:spPr>
          <a:xfrm>
            <a:off x="839788" y="2057400"/>
            <a:ext cx="4931747" cy="3979606"/>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Table below shows the evaluation time for various designs in previous works.</a:t>
            </a:r>
          </a:p>
          <a:p>
            <a:r>
              <a:rPr lang="en-US" dirty="0">
                <a:latin typeface="Times New Roman" panose="02020603050405020304" pitchFamily="18" charset="0"/>
                <a:cs typeface="Times New Roman" panose="02020603050405020304" pitchFamily="18" charset="0"/>
              </a:rPr>
              <a:t>Here we can see that our proposed work shows a massive improvement in the calculation time. (Note that the preprocessing used in [1] is extremely computationally expensive) On the </a:t>
            </a:r>
            <a:r>
              <a:rPr lang="en-US" dirty="0" err="1">
                <a:latin typeface="Times New Roman" panose="02020603050405020304" pitchFamily="18" charset="0"/>
                <a:cs typeface="Times New Roman" panose="02020603050405020304" pitchFamily="18" charset="0"/>
              </a:rPr>
              <a:t>Nexys</a:t>
            </a:r>
            <a:r>
              <a:rPr lang="en-US" dirty="0">
                <a:latin typeface="Times New Roman" panose="02020603050405020304" pitchFamily="18" charset="0"/>
                <a:cs typeface="Times New Roman" panose="02020603050405020304" pitchFamily="18" charset="0"/>
              </a:rPr>
              <a:t> 4DDR, the serial preprocessing pruned decision tree can be expected to take around 6.75 micro seconds. </a:t>
            </a:r>
          </a:p>
          <a:p>
            <a:r>
              <a:rPr lang="en-US" dirty="0">
                <a:latin typeface="Times New Roman" panose="02020603050405020304" pitchFamily="18" charset="0"/>
                <a:cs typeface="Times New Roman" panose="02020603050405020304" pitchFamily="18" charset="0"/>
              </a:rPr>
              <a:t>This time can be reduced by applying various approaches to decrease the preprocessing time and can be expected to be optimized to around 1-2 micro seconds (Worst case). </a:t>
            </a:r>
          </a:p>
          <a:p>
            <a:r>
              <a:rPr lang="en-US" dirty="0">
                <a:latin typeface="Times New Roman" panose="02020603050405020304" pitchFamily="18" charset="0"/>
                <a:cs typeface="Times New Roman" panose="02020603050405020304" pitchFamily="18" charset="0"/>
              </a:rPr>
              <a:t>It is very difficult to find the exact time it takes for the output in the parallel preprocessing case but we can estimate it to less than 100ns based on the design. </a:t>
            </a:r>
          </a:p>
          <a:p>
            <a:r>
              <a:rPr lang="en-US" dirty="0">
                <a:latin typeface="Times New Roman" panose="02020603050405020304" pitchFamily="18" charset="0"/>
                <a:cs typeface="Times New Roman" panose="02020603050405020304" pitchFamily="18" charset="0"/>
              </a:rPr>
              <a:t>This can still be considered extremely fast and real time considering that the sampling rate of the input signal is 125Hz (Around 10 </a:t>
            </a:r>
            <a:r>
              <a:rPr lang="en-US" dirty="0" err="1">
                <a:latin typeface="Times New Roman" panose="02020603050405020304" pitchFamily="18" charset="0"/>
                <a:cs typeface="Times New Roman" panose="02020603050405020304" pitchFamily="18" charset="0"/>
              </a:rPr>
              <a:t>ms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id="{5A7B1A94-376D-7724-8CFC-64BBA9174743}"/>
              </a:ext>
            </a:extLst>
          </p:cNvPr>
          <p:cNvGraphicFramePr>
            <a:graphicFrameLocks noGrp="1"/>
          </p:cNvGraphicFramePr>
          <p:nvPr>
            <p:ph idx="1"/>
            <p:extLst>
              <p:ext uri="{D42A27DB-BD31-4B8C-83A1-F6EECF244321}">
                <p14:modId xmlns:p14="http://schemas.microsoft.com/office/powerpoint/2010/main" val="550297413"/>
              </p:ext>
            </p:extLst>
          </p:nvPr>
        </p:nvGraphicFramePr>
        <p:xfrm>
          <a:off x="6096000" y="2057400"/>
          <a:ext cx="5725160" cy="2857884"/>
        </p:xfrm>
        <a:graphic>
          <a:graphicData uri="http://schemas.openxmlformats.org/drawingml/2006/table">
            <a:tbl>
              <a:tblPr firstRow="1" firstCol="1" bandRow="1">
                <a:tableStyleId>{5C22544A-7EE6-4342-B048-85BDC9FD1C3A}</a:tableStyleId>
              </a:tblPr>
              <a:tblGrid>
                <a:gridCol w="1475105">
                  <a:extLst>
                    <a:ext uri="{9D8B030D-6E8A-4147-A177-3AD203B41FA5}">
                      <a16:colId xmlns:a16="http://schemas.microsoft.com/office/drawing/2014/main" val="1242709815"/>
                    </a:ext>
                  </a:extLst>
                </a:gridCol>
                <a:gridCol w="1590675">
                  <a:extLst>
                    <a:ext uri="{9D8B030D-6E8A-4147-A177-3AD203B41FA5}">
                      <a16:colId xmlns:a16="http://schemas.microsoft.com/office/drawing/2014/main" val="3389980908"/>
                    </a:ext>
                  </a:extLst>
                </a:gridCol>
                <a:gridCol w="1153160">
                  <a:extLst>
                    <a:ext uri="{9D8B030D-6E8A-4147-A177-3AD203B41FA5}">
                      <a16:colId xmlns:a16="http://schemas.microsoft.com/office/drawing/2014/main" val="936836374"/>
                    </a:ext>
                  </a:extLst>
                </a:gridCol>
                <a:gridCol w="1506220">
                  <a:extLst>
                    <a:ext uri="{9D8B030D-6E8A-4147-A177-3AD203B41FA5}">
                      <a16:colId xmlns:a16="http://schemas.microsoft.com/office/drawing/2014/main" val="150475692"/>
                    </a:ext>
                  </a:extLst>
                </a:gridCol>
              </a:tblGrid>
              <a:tr h="0">
                <a:tc>
                  <a:txBody>
                    <a:bodyPr/>
                    <a:lstStyle/>
                    <a:p>
                      <a:pPr marL="0" marR="0" algn="ctr">
                        <a:lnSpc>
                          <a:spcPct val="115000"/>
                        </a:lnSpc>
                        <a:spcAft>
                          <a:spcPts val="800"/>
                        </a:spcAft>
                        <a:buNone/>
                      </a:pPr>
                      <a:r>
                        <a:rPr lang="en-US" sz="1400" kern="100">
                          <a:effectLst/>
                        </a:rPr>
                        <a:t>Reference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Classification model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Other factors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Evaluation time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8288339"/>
                  </a:ext>
                </a:extLst>
              </a:tr>
              <a:tr h="0">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3 Layers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200ns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4485366"/>
                  </a:ext>
                </a:extLst>
              </a:tr>
              <a:tr h="0">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5 Layers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260ns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77392"/>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Pruned Decision Tree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10.675ns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6282901"/>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Pruned Decision Tree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Parallel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&lt;100ns (estimate)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8193388"/>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rPr>
                        <a:t>Pruned Decision Tree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Serial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IN" sz="1400" kern="100" dirty="0">
                          <a:effectLst/>
                        </a:rPr>
                        <a:t>Around 675 clock cycles (worst case)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3047976"/>
                  </a:ext>
                </a:extLst>
              </a:tr>
            </a:tbl>
          </a:graphicData>
        </a:graphic>
      </p:graphicFrame>
      <p:sp>
        <p:nvSpPr>
          <p:cNvPr id="2" name="TextBox 1">
            <a:extLst>
              <a:ext uri="{FF2B5EF4-FFF2-40B4-BE49-F238E27FC236}">
                <a16:creationId xmlns:a16="http://schemas.microsoft.com/office/drawing/2014/main" id="{6FA89A77-0756-8FEA-27AC-F80A67DA262C}"/>
              </a:ext>
            </a:extLst>
          </p:cNvPr>
          <p:cNvSpPr txBox="1"/>
          <p:nvPr/>
        </p:nvSpPr>
        <p:spPr>
          <a:xfrm>
            <a:off x="8533816" y="5036996"/>
            <a:ext cx="849528" cy="369332"/>
          </a:xfrm>
          <a:prstGeom prst="rect">
            <a:avLst/>
          </a:prstGeom>
          <a:noFill/>
        </p:spPr>
        <p:txBody>
          <a:bodyPr wrap="none" rtlCol="0">
            <a:spAutoFit/>
          </a:bodyPr>
          <a:lstStyle/>
          <a:p>
            <a:r>
              <a:rPr lang="en-IN" dirty="0"/>
              <a:t>Table 4</a:t>
            </a:r>
          </a:p>
        </p:txBody>
      </p:sp>
    </p:spTree>
    <p:extLst>
      <p:ext uri="{BB962C8B-B14F-4D97-AF65-F5344CB8AC3E}">
        <p14:creationId xmlns:p14="http://schemas.microsoft.com/office/powerpoint/2010/main" val="262788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A3963-0F54-DE67-01DE-793D5FD4A8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97781D-51E3-A4F7-9AC8-7F1D5684EDC8}"/>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Simulation Output</a:t>
            </a:r>
            <a:endParaRPr lang="en-IN"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6849A93-1C45-5380-27B6-A623B7627525}"/>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Parallel preprocessing output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General TCL console output of pre-processed signal</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3615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15008-CC58-5801-FB94-41F1FC7DCDC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B31B7AD-6F8B-DC90-27C6-97548BEC967F}"/>
              </a:ext>
            </a:extLst>
          </p:cNvPr>
          <p:cNvSpPr>
            <a:spLocks noGrp="1"/>
          </p:cNvSpPr>
          <p:nvPr>
            <p:ph type="title"/>
          </p:nvPr>
        </p:nvSpPr>
        <p:spPr>
          <a:xfrm>
            <a:off x="839788" y="457200"/>
            <a:ext cx="3932237" cy="1233948"/>
          </a:xfrm>
        </p:spPr>
        <p:txBody>
          <a:bodyPr/>
          <a:lstStyle/>
          <a:p>
            <a:r>
              <a:rPr lang="en-US" dirty="0">
                <a:latin typeface="Times New Roman" panose="02020603050405020304" pitchFamily="18" charset="0"/>
                <a:cs typeface="Times New Roman" panose="02020603050405020304" pitchFamily="18" charset="0"/>
              </a:rPr>
              <a:t>Parallel preprocessing output</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1233E0FE-5498-6C27-B5F3-92364AC304FE}"/>
              </a:ext>
            </a:extLst>
          </p:cNvPr>
          <p:cNvSpPr>
            <a:spLocks noGrp="1"/>
          </p:cNvSpPr>
          <p:nvPr>
            <p:ph type="body" sz="half" idx="2"/>
          </p:nvPr>
        </p:nvSpPr>
        <p:spPr>
          <a:xfrm>
            <a:off x="839788" y="2057400"/>
            <a:ext cx="4882586" cy="3811588"/>
          </a:xfrm>
        </p:spPr>
        <p:txBody>
          <a:bodyPr/>
          <a:lstStyle/>
          <a:p>
            <a:r>
              <a:rPr lang="en-US" dirty="0"/>
              <a:t>Data is passed clock by clock to the queue using the serial Data 13-bit port (First bit is always 0 just to denote sign). </a:t>
            </a:r>
          </a:p>
          <a:p>
            <a:r>
              <a:rPr lang="en-US" dirty="0"/>
              <a:t>While the input is yet to be filled, the output is unstable (Output comes out as 2 which refers to Ventricular ectopic beat). This is just a consequence of the preprocess output being all 0s and can be ignored.</a:t>
            </a:r>
          </a:p>
          <a:p>
            <a:r>
              <a:rPr lang="en-US" dirty="0"/>
              <a:t> After the input is filled with enough number of samples, the output becomes the actual prediction (Which is 0 in this case which refers to normal heartbeat). </a:t>
            </a:r>
          </a:p>
          <a:p>
            <a:r>
              <a:rPr lang="en-US" dirty="0"/>
              <a:t>Although not shown here, the output of serial preprocessing will be identical except for a small time period during which the output will be unstable (During preprocessing).</a:t>
            </a:r>
            <a:endParaRPr lang="en-IN" dirty="0"/>
          </a:p>
        </p:txBody>
      </p:sp>
      <p:pic>
        <p:nvPicPr>
          <p:cNvPr id="4" name="Content Placeholder 3">
            <a:extLst>
              <a:ext uri="{FF2B5EF4-FFF2-40B4-BE49-F238E27FC236}">
                <a16:creationId xmlns:a16="http://schemas.microsoft.com/office/drawing/2014/main" id="{EEA24476-65E6-1B4E-39FF-1CE5F8F7DDB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12453" y="2134285"/>
            <a:ext cx="6172200" cy="2589430"/>
          </a:xfrm>
          <a:prstGeom prst="rect">
            <a:avLst/>
          </a:prstGeom>
          <a:noFill/>
        </p:spPr>
      </p:pic>
      <p:sp>
        <p:nvSpPr>
          <p:cNvPr id="2" name="TextBox 1">
            <a:extLst>
              <a:ext uri="{FF2B5EF4-FFF2-40B4-BE49-F238E27FC236}">
                <a16:creationId xmlns:a16="http://schemas.microsoft.com/office/drawing/2014/main" id="{1EF1115D-49B2-C970-CDBD-4B6CD7F1DBA9}"/>
              </a:ext>
            </a:extLst>
          </p:cNvPr>
          <p:cNvSpPr txBox="1"/>
          <p:nvPr/>
        </p:nvSpPr>
        <p:spPr>
          <a:xfrm>
            <a:off x="8430219" y="4857887"/>
            <a:ext cx="936667" cy="369332"/>
          </a:xfrm>
          <a:prstGeom prst="rect">
            <a:avLst/>
          </a:prstGeom>
          <a:noFill/>
        </p:spPr>
        <p:txBody>
          <a:bodyPr wrap="none" rtlCol="0">
            <a:spAutoFit/>
          </a:bodyPr>
          <a:lstStyle/>
          <a:p>
            <a:r>
              <a:rPr lang="en-IN" dirty="0"/>
              <a:t>Figure 5</a:t>
            </a:r>
          </a:p>
        </p:txBody>
      </p:sp>
    </p:spTree>
    <p:extLst>
      <p:ext uri="{BB962C8B-B14F-4D97-AF65-F5344CB8AC3E}">
        <p14:creationId xmlns:p14="http://schemas.microsoft.com/office/powerpoint/2010/main" val="1417313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5E8DD-769F-623D-CD1B-E45F1A9A72C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4F8D5D4-1AC5-CC73-3686-487D5547F6D4}"/>
              </a:ext>
            </a:extLst>
          </p:cNvPr>
          <p:cNvSpPr>
            <a:spLocks noGrp="1"/>
          </p:cNvSpPr>
          <p:nvPr>
            <p:ph type="title"/>
          </p:nvPr>
        </p:nvSpPr>
        <p:spPr>
          <a:xfrm>
            <a:off x="839788" y="457200"/>
            <a:ext cx="4469631" cy="1600200"/>
          </a:xfrm>
        </p:spPr>
        <p:txBody>
          <a:bodyPr/>
          <a:lstStyle/>
          <a:p>
            <a:r>
              <a:rPr lang="en-IN" dirty="0">
                <a:latin typeface="Times New Roman" panose="02020603050405020304" pitchFamily="18" charset="0"/>
                <a:cs typeface="Times New Roman" panose="02020603050405020304" pitchFamily="18" charset="0"/>
              </a:rPr>
              <a:t>Sample TCL console output of pre-processed signal</a:t>
            </a:r>
          </a:p>
        </p:txBody>
      </p:sp>
      <p:sp>
        <p:nvSpPr>
          <p:cNvPr id="7" name="Text Placeholder 6">
            <a:extLst>
              <a:ext uri="{FF2B5EF4-FFF2-40B4-BE49-F238E27FC236}">
                <a16:creationId xmlns:a16="http://schemas.microsoft.com/office/drawing/2014/main" id="{1E138048-EA2C-B66A-706C-1BACFCD443D6}"/>
              </a:ext>
            </a:extLst>
          </p:cNvPr>
          <p:cNvSpPr>
            <a:spLocks noGrp="1"/>
          </p:cNvSpPr>
          <p:nvPr>
            <p:ph type="body" sz="half" idx="2"/>
          </p:nvPr>
        </p:nvSpPr>
        <p:spPr>
          <a:xfrm>
            <a:off x="839788" y="2057400"/>
            <a:ext cx="4931747" cy="3811588"/>
          </a:xfrm>
        </p:spPr>
        <p:txBody>
          <a:bodyPr/>
          <a:lstStyle/>
          <a:p>
            <a:r>
              <a:rPr lang="en-US" dirty="0"/>
              <a:t>Given image shows a sample of the output of the preprocessing module after finishing a preprocessing iteration on a queue. (Same output will be obtained for both parallel and serial preprocessing). </a:t>
            </a:r>
          </a:p>
          <a:p>
            <a:r>
              <a:rPr lang="en-US" dirty="0"/>
              <a:t>We can see that the preprocessing module considers the minimum value, maximum value and the range to properly normalize the considered segment from 0 to 4095 (Both inclusive).</a:t>
            </a:r>
          </a:p>
          <a:p>
            <a:endParaRPr lang="en-IN" dirty="0"/>
          </a:p>
        </p:txBody>
      </p:sp>
      <p:pic>
        <p:nvPicPr>
          <p:cNvPr id="8" name="Content Placeholder 7">
            <a:extLst>
              <a:ext uri="{FF2B5EF4-FFF2-40B4-BE49-F238E27FC236}">
                <a16:creationId xmlns:a16="http://schemas.microsoft.com/office/drawing/2014/main" id="{777B8AC0-681F-943C-1C39-24A641D5F2F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0" y="2047875"/>
            <a:ext cx="5095875" cy="2762250"/>
          </a:xfrm>
          <a:prstGeom prst="rect">
            <a:avLst/>
          </a:prstGeom>
          <a:noFill/>
        </p:spPr>
      </p:pic>
      <p:sp>
        <p:nvSpPr>
          <p:cNvPr id="2" name="TextBox 1">
            <a:extLst>
              <a:ext uri="{FF2B5EF4-FFF2-40B4-BE49-F238E27FC236}">
                <a16:creationId xmlns:a16="http://schemas.microsoft.com/office/drawing/2014/main" id="{52875891-C7A4-38C1-0035-76355FC96E63}"/>
              </a:ext>
            </a:extLst>
          </p:cNvPr>
          <p:cNvSpPr txBox="1"/>
          <p:nvPr/>
        </p:nvSpPr>
        <p:spPr>
          <a:xfrm>
            <a:off x="7843510" y="4810125"/>
            <a:ext cx="936667" cy="369332"/>
          </a:xfrm>
          <a:prstGeom prst="rect">
            <a:avLst/>
          </a:prstGeom>
          <a:noFill/>
        </p:spPr>
        <p:txBody>
          <a:bodyPr wrap="none" rtlCol="0">
            <a:spAutoFit/>
          </a:bodyPr>
          <a:lstStyle/>
          <a:p>
            <a:r>
              <a:rPr lang="en-IN" dirty="0"/>
              <a:t>Figure 6</a:t>
            </a:r>
          </a:p>
        </p:txBody>
      </p:sp>
    </p:spTree>
    <p:extLst>
      <p:ext uri="{BB962C8B-B14F-4D97-AF65-F5344CB8AC3E}">
        <p14:creationId xmlns:p14="http://schemas.microsoft.com/office/powerpoint/2010/main" val="2448564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AF927-6F45-4D57-14CB-B6A945CF0B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AADE0D-12C0-6CE3-3F96-E9AB1A3058F5}"/>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On-Board output</a:t>
            </a:r>
            <a:endParaRPr lang="en-IN"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3539871-3D52-927A-1D19-DD663BA05BF6}"/>
              </a:ext>
            </a:extLst>
          </p:cNvPr>
          <p:cNvSpPr>
            <a:spLocks noGrp="1"/>
          </p:cNvSpPr>
          <p:nvPr>
            <p:ph idx="1"/>
          </p:nvPr>
        </p:nvSpPr>
        <p:spPr/>
        <p:txBody>
          <a:bodyPr/>
          <a:lstStyle/>
          <a:p>
            <a:r>
              <a:rPr lang="en-US" dirty="0"/>
              <a:t>Output when signals are saved onto FPGA and are directly passed</a:t>
            </a:r>
          </a:p>
          <a:p>
            <a:r>
              <a:rPr lang="en-US" dirty="0"/>
              <a:t>Output when ESP32 is used to pass ECG signals</a:t>
            </a:r>
            <a:endParaRPr lang="en-IN" dirty="0"/>
          </a:p>
        </p:txBody>
      </p:sp>
    </p:spTree>
    <p:extLst>
      <p:ext uri="{BB962C8B-B14F-4D97-AF65-F5344CB8AC3E}">
        <p14:creationId xmlns:p14="http://schemas.microsoft.com/office/powerpoint/2010/main" val="3954255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D11AE-2DB5-CA95-BB11-F05E33F5029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9697E53-62B2-240B-26E5-28D94A008347}"/>
              </a:ext>
            </a:extLst>
          </p:cNvPr>
          <p:cNvSpPr>
            <a:spLocks noGrp="1"/>
          </p:cNvSpPr>
          <p:nvPr>
            <p:ph type="title"/>
          </p:nvPr>
        </p:nvSpPr>
        <p:spPr/>
        <p:txBody>
          <a:bodyPr>
            <a:normAutofit fontScale="90000"/>
          </a:bodyPr>
          <a:lstStyle/>
          <a:p>
            <a:r>
              <a:rPr lang="en-US" dirty="0"/>
              <a:t>Output when signals are saved onto FPGA and are directly passed</a:t>
            </a:r>
            <a:br>
              <a:rPr lang="en-US" dirty="0"/>
            </a:br>
            <a:endParaRPr lang="en-IN" dirty="0"/>
          </a:p>
        </p:txBody>
      </p:sp>
      <p:sp>
        <p:nvSpPr>
          <p:cNvPr id="7" name="Text Placeholder 6">
            <a:extLst>
              <a:ext uri="{FF2B5EF4-FFF2-40B4-BE49-F238E27FC236}">
                <a16:creationId xmlns:a16="http://schemas.microsoft.com/office/drawing/2014/main" id="{F71AC2EE-EEC1-FC80-7D41-F91006B729EC}"/>
              </a:ext>
            </a:extLst>
          </p:cNvPr>
          <p:cNvSpPr>
            <a:spLocks noGrp="1"/>
          </p:cNvSpPr>
          <p:nvPr>
            <p:ph type="body" sz="half" idx="2"/>
          </p:nvPr>
        </p:nvSpPr>
        <p:spPr/>
        <p:txBody>
          <a:bodyPr/>
          <a:lstStyle/>
          <a:p>
            <a:r>
              <a:rPr lang="en-US" dirty="0"/>
              <a:t>Segments of various ECG sections was saved onto the FPGA before hand as registers and the signals are multiplexed between different types of heart beat segments using switches.</a:t>
            </a:r>
          </a:p>
          <a:p>
            <a:r>
              <a:rPr lang="en-US" dirty="0"/>
              <a:t>The output class is displayed on the LEDs as shown. The output matched the expectations.</a:t>
            </a:r>
            <a:endParaRPr lang="en-IN" dirty="0"/>
          </a:p>
        </p:txBody>
      </p:sp>
      <p:pic>
        <p:nvPicPr>
          <p:cNvPr id="4" name="Content Placeholder 3">
            <a:extLst>
              <a:ext uri="{FF2B5EF4-FFF2-40B4-BE49-F238E27FC236}">
                <a16:creationId xmlns:a16="http://schemas.microsoft.com/office/drawing/2014/main" id="{4E1C6DDC-BF63-02A9-B39B-189F958AB1BC}"/>
              </a:ext>
            </a:extLst>
          </p:cNvPr>
          <p:cNvPicPr>
            <a:picLocks noGrp="1" noChangeAspect="1"/>
          </p:cNvPicPr>
          <p:nvPr>
            <p:ph idx="1"/>
          </p:nvPr>
        </p:nvPicPr>
        <p:blipFill>
          <a:blip r:embed="rId2"/>
          <a:stretch>
            <a:fillRect/>
          </a:stretch>
        </p:blipFill>
        <p:spPr>
          <a:xfrm>
            <a:off x="5180012" y="1836900"/>
            <a:ext cx="6172200" cy="3184199"/>
          </a:xfrm>
          <a:prstGeom prst="rect">
            <a:avLst/>
          </a:prstGeom>
        </p:spPr>
      </p:pic>
      <p:sp>
        <p:nvSpPr>
          <p:cNvPr id="2" name="TextBox 1">
            <a:extLst>
              <a:ext uri="{FF2B5EF4-FFF2-40B4-BE49-F238E27FC236}">
                <a16:creationId xmlns:a16="http://schemas.microsoft.com/office/drawing/2014/main" id="{CD4F118A-A836-614D-4572-6A1222321080}"/>
              </a:ext>
            </a:extLst>
          </p:cNvPr>
          <p:cNvSpPr txBox="1"/>
          <p:nvPr/>
        </p:nvSpPr>
        <p:spPr>
          <a:xfrm>
            <a:off x="8126314" y="5021099"/>
            <a:ext cx="936667" cy="369332"/>
          </a:xfrm>
          <a:prstGeom prst="rect">
            <a:avLst/>
          </a:prstGeom>
          <a:noFill/>
        </p:spPr>
        <p:txBody>
          <a:bodyPr wrap="none" rtlCol="0">
            <a:spAutoFit/>
          </a:bodyPr>
          <a:lstStyle/>
          <a:p>
            <a:r>
              <a:rPr lang="en-IN" dirty="0"/>
              <a:t>Figure 7</a:t>
            </a:r>
          </a:p>
        </p:txBody>
      </p:sp>
    </p:spTree>
    <p:extLst>
      <p:ext uri="{BB962C8B-B14F-4D97-AF65-F5344CB8AC3E}">
        <p14:creationId xmlns:p14="http://schemas.microsoft.com/office/powerpoint/2010/main" val="882566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47EAA-D94C-1BD6-FCCF-90A4A57623D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651DCD6-01BB-165E-30BE-FDEB6B7001FB}"/>
              </a:ext>
            </a:extLst>
          </p:cNvPr>
          <p:cNvSpPr>
            <a:spLocks noGrp="1"/>
          </p:cNvSpPr>
          <p:nvPr>
            <p:ph type="title"/>
          </p:nvPr>
        </p:nvSpPr>
        <p:spPr/>
        <p:txBody>
          <a:bodyPr>
            <a:normAutofit fontScale="90000"/>
          </a:bodyPr>
          <a:lstStyle/>
          <a:p>
            <a:r>
              <a:rPr lang="en-US" dirty="0"/>
              <a:t>Output when ESP32 is used to pass ECG signals</a:t>
            </a:r>
            <a:br>
              <a:rPr lang="en-IN" dirty="0"/>
            </a:br>
            <a:endParaRPr lang="en-IN" dirty="0"/>
          </a:p>
        </p:txBody>
      </p:sp>
      <p:sp>
        <p:nvSpPr>
          <p:cNvPr id="7" name="Text Placeholder 6">
            <a:extLst>
              <a:ext uri="{FF2B5EF4-FFF2-40B4-BE49-F238E27FC236}">
                <a16:creationId xmlns:a16="http://schemas.microsoft.com/office/drawing/2014/main" id="{BEB6FEB5-79DB-9302-F979-C6D2D499295A}"/>
              </a:ext>
            </a:extLst>
          </p:cNvPr>
          <p:cNvSpPr>
            <a:spLocks noGrp="1"/>
          </p:cNvSpPr>
          <p:nvPr>
            <p:ph type="body" sz="half" idx="2"/>
          </p:nvPr>
        </p:nvSpPr>
        <p:spPr/>
        <p:txBody>
          <a:bodyPr/>
          <a:lstStyle/>
          <a:p>
            <a:r>
              <a:rPr lang="en-US" dirty="0"/>
              <a:t>ESP32 is used to pass segments into the FPGA via its PMOD ports. A simple webserver was setup using the ESP32 to output different outputs.</a:t>
            </a:r>
          </a:p>
          <a:p>
            <a:r>
              <a:rPr lang="en-US" dirty="0"/>
              <a:t>As both the FPGA and ESP32 are working at 3.3V, we can freely pass data between the devices using a common ground as </a:t>
            </a:r>
            <a:r>
              <a:rPr lang="en-US" dirty="0" err="1"/>
              <a:t>refe</a:t>
            </a:r>
            <a:endParaRPr lang="en-US" dirty="0"/>
          </a:p>
          <a:p>
            <a:r>
              <a:rPr lang="en-US" dirty="0"/>
              <a:t>Above photo shows the output of the FPGA with data being passed from the ESP32. Due to timing issues, the output was not stable and we were not able to capture it properly. Further improvements can be made using better timing-based algorithms to get better output. (Such as holding data, using start, busy signals </a:t>
            </a:r>
            <a:r>
              <a:rPr lang="en-US" dirty="0" err="1"/>
              <a:t>etc</a:t>
            </a:r>
            <a:r>
              <a:rPr lang="en-US" dirty="0"/>
              <a:t> </a:t>
            </a:r>
            <a:r>
              <a:rPr lang="en-US" dirty="0" err="1"/>
              <a:t>etc</a:t>
            </a:r>
            <a:r>
              <a:rPr lang="en-US" dirty="0"/>
              <a:t>). </a:t>
            </a:r>
            <a:endParaRPr lang="en-IN" dirty="0"/>
          </a:p>
        </p:txBody>
      </p:sp>
      <p:pic>
        <p:nvPicPr>
          <p:cNvPr id="5" name="Content Placeholder 4">
            <a:extLst>
              <a:ext uri="{FF2B5EF4-FFF2-40B4-BE49-F238E27FC236}">
                <a16:creationId xmlns:a16="http://schemas.microsoft.com/office/drawing/2014/main" id="{C0E0FBC6-B54D-94F0-B8EA-80345172926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951828" y="294968"/>
            <a:ext cx="2099635" cy="2441575"/>
          </a:xfrm>
          <a:prstGeom prst="rect">
            <a:avLst/>
          </a:prstGeom>
        </p:spPr>
      </p:pic>
      <p:pic>
        <p:nvPicPr>
          <p:cNvPr id="8" name="WhatsApp Video 2025-03-23 at 15.35.00_605be94f">
            <a:hlinkClick r:id="" action="ppaction://media"/>
            <a:extLst>
              <a:ext uri="{FF2B5EF4-FFF2-40B4-BE49-F238E27FC236}">
                <a16:creationId xmlns:a16="http://schemas.microsoft.com/office/drawing/2014/main" id="{19D8157E-B402-864B-CE45-4CE514D6221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583135" y="2926576"/>
            <a:ext cx="6172200" cy="3479140"/>
          </a:xfrm>
          <a:prstGeom prst="rect">
            <a:avLst/>
          </a:prstGeom>
        </p:spPr>
      </p:pic>
    </p:spTree>
    <p:extLst>
      <p:ext uri="{BB962C8B-B14F-4D97-AF65-F5344CB8AC3E}">
        <p14:creationId xmlns:p14="http://schemas.microsoft.com/office/powerpoint/2010/main" val="822527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11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0">
                <p:cTn id="12" fill="hold" display="0">
                  <p:stCondLst>
                    <p:cond delay="indefinite"/>
                  </p:stCondLst>
                </p:cTn>
                <p:tgtEl>
                  <p:spTgt spid="8"/>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A1707-36D7-34D1-D853-EC5FAC3A78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3822F8-4536-B100-36F5-174893E6CAF5}"/>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References</a:t>
            </a:r>
            <a:endParaRPr lang="en-IN"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9E5D7D55-D72E-E439-1BB2-51E13B85F777}"/>
              </a:ext>
            </a:extLst>
          </p:cNvPr>
          <p:cNvSpPr>
            <a:spLocks noGrp="1"/>
          </p:cNvSpPr>
          <p:nvPr>
            <p:ph idx="1"/>
          </p:nvPr>
        </p:nvSpPr>
        <p:spPr/>
        <p:txBody>
          <a:bodyPr>
            <a:normAutofit/>
          </a:bodyPr>
          <a:lstStyle/>
          <a:p>
            <a:r>
              <a:rPr lang="en-IN" sz="1400" dirty="0"/>
              <a:t>[1] C. Chen, B. da Silva, C. Yang, C. Ma, J. Li and C. Liu, "</a:t>
            </a:r>
            <a:r>
              <a:rPr lang="en-IN" sz="1400" dirty="0" err="1"/>
              <a:t>AutoMLP</a:t>
            </a:r>
            <a:r>
              <a:rPr lang="en-IN" sz="1400" dirty="0"/>
              <a:t>: A Framework for the Acceleration of Multi-Layer Perceptron Models on FPGAs for Real-Time Atrial Fibrillation Disease Detection," in IEEE Transactions on Biomedical Circuits and Systems, vol. 17, no. 6 </a:t>
            </a:r>
          </a:p>
          <a:p>
            <a:r>
              <a:rPr lang="en-IN" sz="1400" dirty="0"/>
              <a:t>[2] L. Zhao, C. Liu, S. Wei, Q. Shen, F. Zhou and J. Li, "A new entropy-based atrial fibrillation detection method for scanning wearable ECG recordings", Entropy, vol. 20, no. 12, 2018. </a:t>
            </a:r>
          </a:p>
          <a:p>
            <a:r>
              <a:rPr lang="en-IN" sz="1400" dirty="0"/>
              <a:t>[3] H. Zhang, Z. Dong, J. Gao, P. Lu and Z. Wang, "Automatic screening method for atrial fibrillation based on lossy compression of the electrocardiogram signal", Physiol. Meas., vol. 41, no. 7, 2020 </a:t>
            </a:r>
          </a:p>
          <a:p>
            <a:r>
              <a:rPr lang="en-IN" sz="1400" dirty="0"/>
              <a:t>[4] P. H. Borghi, R. C. Borges and J. P. Teixeira, "Atrial fibrillation classification based on MLP networks by extracting Jitter and Shimmer parameters", Procedia </a:t>
            </a:r>
            <a:r>
              <a:rPr lang="en-IN" sz="1400" dirty="0" err="1"/>
              <a:t>Comput</a:t>
            </a:r>
            <a:r>
              <a:rPr lang="en-IN" sz="1400" dirty="0"/>
              <a:t>. Sci., vol. 181, pp. 931-939, 2021. </a:t>
            </a:r>
          </a:p>
          <a:p>
            <a:r>
              <a:rPr lang="en-IN" sz="1400" dirty="0"/>
              <a:t>[5] R. </a:t>
            </a:r>
            <a:r>
              <a:rPr lang="en-IN" sz="1400" dirty="0" err="1"/>
              <a:t>Sarić</a:t>
            </a:r>
            <a:r>
              <a:rPr lang="en-IN" sz="1400" dirty="0"/>
              <a:t>, D. Jokić, N. Beganović, L. G. </a:t>
            </a:r>
            <a:r>
              <a:rPr lang="en-IN" sz="1400" dirty="0" err="1"/>
              <a:t>Pokvić</a:t>
            </a:r>
            <a:r>
              <a:rPr lang="en-IN" sz="1400" dirty="0"/>
              <a:t> and A. Badnjević, "</a:t>
            </a:r>
            <a:r>
              <a:rPr lang="en-IN" sz="1400" dirty="0" err="1"/>
              <a:t>FPGAbased</a:t>
            </a:r>
            <a:r>
              <a:rPr lang="en-IN" sz="1400" dirty="0"/>
              <a:t> real-time epileptic seizure classification using artificial neural network", Biomed. Signal Process. Control, vol. 62, 2020. </a:t>
            </a:r>
          </a:p>
          <a:p>
            <a:r>
              <a:rPr lang="en-IN" sz="1400" dirty="0"/>
              <a:t>[6] https://www.build-electronic-circuits.com/shift-register/ </a:t>
            </a:r>
          </a:p>
          <a:p>
            <a:r>
              <a:rPr lang="en-IN" sz="1400" dirty="0"/>
              <a:t>[7] </a:t>
            </a:r>
            <a:r>
              <a:rPr lang="en-IN" sz="1400" dirty="0">
                <a:hlinkClick r:id="rId2"/>
              </a:rPr>
              <a:t>https://en.wikipedia.org/wiki/File:SinusRhythmLabels.svg</a:t>
            </a:r>
            <a:endParaRPr lang="en-IN" sz="1400" dirty="0"/>
          </a:p>
          <a:p>
            <a:r>
              <a:rPr lang="en-IN" sz="1400" dirty="0"/>
              <a:t>[8] </a:t>
            </a:r>
            <a:r>
              <a:rPr lang="en-IN" sz="1400" dirty="0">
                <a:hlinkClick r:id="rId3"/>
              </a:rPr>
              <a:t>https://en.wikipedia.org/wiki/Electrocardiography</a:t>
            </a:r>
            <a:endParaRPr lang="en-IN" sz="1400" dirty="0"/>
          </a:p>
          <a:p>
            <a:r>
              <a:rPr lang="en-IN" sz="1400" dirty="0"/>
              <a:t>[9</a:t>
            </a:r>
            <a:r>
              <a:rPr lang="en-IN" sz="1400" dirty="0">
                <a:hlinkClick r:id="rId4"/>
              </a:rPr>
              <a:t>] https://encrypted-tbn0.gstatic.com/images?q=tbn:ANd9GcQVHf-ujRLqgrITIcRYYynyiaSZGqHiF8S7Gg&amp;s</a:t>
            </a:r>
            <a:endParaRPr lang="en-IN" sz="1400" dirty="0"/>
          </a:p>
        </p:txBody>
      </p:sp>
    </p:spTree>
    <p:extLst>
      <p:ext uri="{BB962C8B-B14F-4D97-AF65-F5344CB8AC3E}">
        <p14:creationId xmlns:p14="http://schemas.microsoft.com/office/powerpoint/2010/main" val="3722776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3234</Words>
  <Application>Microsoft Office PowerPoint</Application>
  <PresentationFormat>Widescreen</PresentationFormat>
  <Paragraphs>293</Paragraphs>
  <Slides>25</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Cambria Math</vt:lpstr>
      <vt:lpstr>Times New Roman</vt:lpstr>
      <vt:lpstr>Wingdings</vt:lpstr>
      <vt:lpstr>Office Theme</vt:lpstr>
      <vt:lpstr>Hardware Optimization for ECG Signal Processing and Arrhythmia Classification Using FPGA-Accelerated Machine Learning and Preprocessing </vt:lpstr>
      <vt:lpstr>Index :-</vt:lpstr>
      <vt:lpstr>Abstract &amp; Introduction</vt:lpstr>
      <vt:lpstr>Novelty</vt:lpstr>
      <vt:lpstr>Motivation</vt:lpstr>
      <vt:lpstr>Theory</vt:lpstr>
      <vt:lpstr>1. ADC conversion and Sampling </vt:lpstr>
      <vt:lpstr>2. Data Queueing</vt:lpstr>
      <vt:lpstr>3. Preprocessing of signals</vt:lpstr>
      <vt:lpstr>PowerPoint Presentation</vt:lpstr>
      <vt:lpstr>4.Decision Tree</vt:lpstr>
      <vt:lpstr>PowerPoint Presentation</vt:lpstr>
      <vt:lpstr>Implementation &amp; Workflow</vt:lpstr>
      <vt:lpstr>Code</vt:lpstr>
      <vt:lpstr>Results and Conclusion</vt:lpstr>
      <vt:lpstr>Classification results</vt:lpstr>
      <vt:lpstr>Utilization results</vt:lpstr>
      <vt:lpstr>Processing Time Results</vt:lpstr>
      <vt:lpstr>Simulation Output</vt:lpstr>
      <vt:lpstr>Parallel preprocessing output</vt:lpstr>
      <vt:lpstr>Sample TCL console output of pre-processed signal</vt:lpstr>
      <vt:lpstr>On-Board output</vt:lpstr>
      <vt:lpstr>Output when signals are saved onto FPGA and are directly passed </vt:lpstr>
      <vt:lpstr>Output when ESP32 is used to pass ECG signals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manu manu</dc:creator>
  <cp:lastModifiedBy>Sasank Nasika</cp:lastModifiedBy>
  <cp:revision>85</cp:revision>
  <dcterms:created xsi:type="dcterms:W3CDTF">2025-03-23T12:24:52Z</dcterms:created>
  <dcterms:modified xsi:type="dcterms:W3CDTF">2025-03-23T15:47:47Z</dcterms:modified>
</cp:coreProperties>
</file>